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5" r:id="rId13"/>
    <p:sldId id="264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rudula Mahindrakar" initials="MM" lastIdx="2" clrIdx="0">
    <p:extLst>
      <p:ext uri="{19B8F6BF-5375-455C-9EA6-DF929625EA0E}">
        <p15:presenceInfo xmlns:p15="http://schemas.microsoft.com/office/powerpoint/2012/main" userId="fef7bfc3cedb718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  <a:srgbClr val="FF5050"/>
    <a:srgbClr val="556476"/>
    <a:srgbClr val="22C55E"/>
    <a:srgbClr val="FFFF99"/>
    <a:srgbClr val="00C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60" y="16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700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F8ED-FEB7-19B1-A8F6-23CB81D28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2B6E7-65A3-B8BD-E8FC-FB204E078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32CBB-DC83-CEFB-D71D-805635EFD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61DDD-0033-9162-0E36-3926A7D84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56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energy surface for this problem is extremely rugged and oscillatory, with low-cost basins being tiny and isolated. This confirms why sophisticated optimizers like COBYLA and NFT are necessary.</a:t>
            </a:r>
            <a:endParaRPr lang="en-I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the Hamiltonian and logarithm, we notice that it does find the solution in one of its samples, but the </a:t>
            </a:r>
            <a:r>
              <a:rPr lang="en-US" dirty="0" err="1"/>
              <a:t>cvar</a:t>
            </a:r>
            <a:r>
              <a:rPr lang="en-US" dirty="0"/>
              <a:t> fluctuates highly and </a:t>
            </a:r>
            <a:r>
              <a:rPr lang="en-US" dirty="0" err="1"/>
              <a:t>dosent</a:t>
            </a:r>
            <a:r>
              <a:rPr lang="en-US" dirty="0"/>
              <a:t> converge to 0. however inverse cost function not only finds the solution faster but also stays stable </a:t>
            </a:r>
            <a:r>
              <a:rPr lang="en-US" dirty="0" err="1"/>
              <a:t>wrt</a:t>
            </a:r>
            <a:r>
              <a:rPr lang="en-US" dirty="0"/>
              <a:t> the </a:t>
            </a:r>
            <a:r>
              <a:rPr lang="en-US" dirty="0" err="1"/>
              <a:t>cvar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35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4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65760"/>
            <a:ext cx="164592" cy="164592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234440"/>
            <a:ext cx="164592" cy="164592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103120"/>
            <a:ext cx="164592" cy="164592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2971800"/>
            <a:ext cx="164592" cy="164592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3840480"/>
            <a:ext cx="164592" cy="164592"/>
          </a:xfrm>
          <a:prstGeom prst="ellipse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VQE approach to Prime Factorization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IBM's Noisy Intermediate Scale Quantum Computer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Extension of Sobhani, Chai, Hartung, Jansen — Physical Review A 111, 042413 (2025)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1920240" cy="105156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hardware)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3246120"/>
            <a:ext cx="1920240" cy="105156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1048561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60320" y="3840480"/>
            <a:ext cx="17559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classical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3246120"/>
            <a:ext cx="1920240" cy="105156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CVaR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17720" y="3867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3246120"/>
            <a:ext cx="1920240" cy="105156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675120" y="3867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(COBYLA &amp; NFT)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10.1103/PhysRevA.111.042413</a:t>
            </a:r>
            <a:endParaRPr lang="en-US" sz="1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CE4153E0-5B82-AA8C-0114-BA1B87CF8C1D}"/>
              </a:ext>
            </a:extLst>
          </p:cNvPr>
          <p:cNvSpPr/>
          <p:nvPr/>
        </p:nvSpPr>
        <p:spPr>
          <a:xfrm>
            <a:off x="3359774" y="2722432"/>
            <a:ext cx="36377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by Mrudula A Mahindrakar, EE25S011</a:t>
            </a:r>
            <a:endParaRPr lang="en-US" sz="12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339A549-81EC-CB12-92F7-CBF4EAFB7DF7}"/>
              </a:ext>
            </a:extLst>
          </p:cNvPr>
          <p:cNvSpPr/>
          <p:nvPr/>
        </p:nvSpPr>
        <p:spPr>
          <a:xfrm>
            <a:off x="502920" y="594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ID5841: Quantum Computing Lab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Background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58953"/>
            <a:ext cx="4423216" cy="423925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1115" y="790955"/>
            <a:ext cx="4207112" cy="4207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Factorization Problem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Classically hard — basis of RSA cryptography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Shor's algorithm gives exponential speedup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factored by Shor on real hardware: 21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Era Approach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NISQ devices: noisy, limited qubits, no error correction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VQAs excel here: small circuits + classical optimizer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VQE finds ground state of a Hamiltonian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 factorization as: min (n − </a:t>
            </a:r>
            <a:r>
              <a:rPr lang="en-US" sz="1150" dirty="0" err="1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)²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CVaR-VQE on IBM hardware &amp; simulator
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arithmetic simplifications — fairest benchmark</a:t>
            </a:r>
            <a:endParaRPr lang="en-US" sz="11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420886-29F4-932F-F835-201DCF551CEF}"/>
              </a:ext>
            </a:extLst>
          </p:cNvPr>
          <p:cNvGrpSpPr/>
          <p:nvPr/>
        </p:nvGrpSpPr>
        <p:grpSpPr>
          <a:xfrm>
            <a:off x="4951708" y="868680"/>
            <a:ext cx="3826532" cy="3639312"/>
            <a:chOff x="4434840" y="868680"/>
            <a:chExt cx="4343400" cy="3639312"/>
          </a:xfrm>
        </p:grpSpPr>
        <p:sp>
          <p:nvSpPr>
            <p:cNvPr id="5" name="Text 3"/>
            <p:cNvSpPr/>
            <p:nvPr/>
          </p:nvSpPr>
          <p:spPr>
            <a:xfrm>
              <a:off x="4572000" y="868680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0C2C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Factorization Records</a:t>
              </a: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434840" y="1325880"/>
              <a:ext cx="4343400" cy="548640"/>
            </a:xfrm>
            <a:prstGeom prst="rect">
              <a:avLst/>
            </a:prstGeom>
            <a:solidFill>
              <a:srgbClr val="0D1B2A"/>
            </a:solidFill>
            <a:ln w="6350">
              <a:solidFill>
                <a:srgbClr val="1A2E45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480560" y="137160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500" b="1" dirty="0">
                  <a:solidFill>
                    <a:srgbClr val="94A3B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21</a:t>
              </a:r>
              <a:endParaRPr lang="en-US" sz="1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035040" y="1399032"/>
              <a:ext cx="23317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Shor on real hardware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412480" y="141732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434840" y="1984248"/>
              <a:ext cx="4343400" cy="548640"/>
            </a:xfrm>
            <a:prstGeom prst="rect">
              <a:avLst/>
            </a:prstGeom>
            <a:solidFill>
              <a:srgbClr val="0D1B2A"/>
            </a:solidFill>
            <a:ln w="6350">
              <a:solidFill>
                <a:srgbClr val="1A2E45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480560" y="2029968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500" b="1" dirty="0">
                  <a:solidFill>
                    <a:srgbClr val="94A3B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291,311</a:t>
              </a:r>
              <a:endParaRPr lang="en-US" sz="15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035040" y="2057400"/>
              <a:ext cx="23317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Adiabatic (NMR, 3 qubits)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412480" y="2075688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2017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434840" y="2642616"/>
              <a:ext cx="4343400" cy="548640"/>
            </a:xfrm>
            <a:prstGeom prst="rect">
              <a:avLst/>
            </a:prstGeom>
            <a:solidFill>
              <a:srgbClr val="0D1B2A"/>
            </a:solidFill>
            <a:ln w="6350">
              <a:solidFill>
                <a:srgbClr val="1A2E45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480560" y="2688336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500" b="1" dirty="0">
                  <a:solidFill>
                    <a:srgbClr val="94A3B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1,829</a:t>
              </a:r>
              <a:endParaRPr lang="en-US" sz="15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035040" y="2715768"/>
              <a:ext cx="23317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QITE on IBM (9 qubits)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412480" y="2734056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2021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434840" y="3300984"/>
              <a:ext cx="4343400" cy="54864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00C2CB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480560" y="3346704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253</a:t>
              </a:r>
              <a:endParaRPr lang="en-US" sz="1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035040" y="3374136"/>
              <a:ext cx="23317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VQE — this paper (9 qubits)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412480" y="3392424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2025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434840" y="3959352"/>
              <a:ext cx="4343400" cy="54864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00C2CB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480560" y="4005072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1,048,561</a:t>
              </a:r>
              <a:endParaRPr lang="en-US" sz="18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035040" y="4032504"/>
              <a:ext cx="23317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VQE — ideal simulation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412480" y="4050792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2025</a:t>
              </a:r>
              <a:endParaRPr lang="en-US" sz="10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Method: CVaR-VQE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1920240" cy="2176736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960120"/>
            <a:ext cx="594360" cy="5943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Hamiltonian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737360" cy="1046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(n−pq)² into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Pauli-Z operators.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fixed LSBs p₀=q₀=1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minimise qubit count.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58568" y="2423160"/>
            <a:ext cx="192024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868680"/>
            <a:ext cx="1920240" cy="2176735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960120"/>
            <a:ext cx="594360" cy="5943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64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Ansatz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208483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Hardware-efficient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linear-CNOT circuit.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layers of RY gates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CNOT chain.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07408" y="2423160"/>
            <a:ext cx="192024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868680"/>
            <a:ext cx="1920240" cy="2176736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76088" y="960120"/>
            <a:ext cx="594360" cy="5943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1664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2084832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lowest α-fraction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shot eigenvalues.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α=0.01 outperforms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expectation.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56248" y="2423160"/>
            <a:ext cx="192024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868680"/>
            <a:ext cx="1920240" cy="2176735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24928" y="960120"/>
            <a:ext cx="594360" cy="5943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1664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COBYLA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084832"/>
            <a:ext cx="1737360" cy="87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Gradient-free simplex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θ params until it converges or reaches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iters = 50·N·L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285645"/>
            <a:ext cx="4206240" cy="1670403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4709160" y="3372050"/>
                <a:ext cx="3977640" cy="157780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00" b="1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Solution</a:t>
                </a:r>
                <a:r>
                  <a:rPr lang="en-US" sz="1300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: </a:t>
                </a:r>
                <a:r>
                  <a:rPr lang="en-US" sz="13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CVaR only considers the</a:t>
                </a:r>
              </a:p>
              <a:p>
                <a:pPr algn="ctr"/>
                <a:r>
                  <a:rPr lang="en-US" sz="13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relatively low-energy shots for the cost functions </a:t>
                </a:r>
              </a:p>
              <a:p>
                <a:pPr algn="ctr"/>
                <a:endParaRPr lang="en-US" sz="1300" dirty="0">
                  <a:solidFill>
                    <a:schemeClr val="bg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3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CVaR(α, S)  =  (1/αS) · Σ eₖ   </a:t>
                </a:r>
              </a:p>
              <a:p>
                <a:pPr algn="ctr"/>
                <a:r>
                  <a:rPr lang="en-US" sz="12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eₖ - ascending order of eigenvalues for S shots to obtain S measurement outcomes.</a:t>
                </a:r>
              </a:p>
              <a:p>
                <a:pPr algn="ctr"/>
                <a:r>
                  <a:rPr lang="en-US" sz="12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For α=1, E =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&lt;</m:t>
                    </m:r>
                    <m:r>
                      <a:rPr lang="en-US" sz="12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𝜑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itchFamily="34" charset="-120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itchFamily="34" charset="-120"/>
                          </a:rPr>
                          <m:t>𝜃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|</m:t>
                    </m:r>
                    <m:r>
                      <a:rPr lang="en-IN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𝐻</m:t>
                    </m:r>
                    <m:r>
                      <a:rPr lang="en-IN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|</m:t>
                    </m:r>
                    <m:r>
                      <a:rPr lang="en-US" sz="12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𝜑</m:t>
                    </m:r>
                    <m:d>
                      <m:dPr>
                        <m:ctrlPr>
                          <a:rPr lang="en-IN" sz="12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itchFamily="34" charset="-120"/>
                          </a:rPr>
                        </m:ctrlPr>
                      </m:dPr>
                      <m:e>
                        <m:r>
                          <a:rPr lang="en-IN" sz="1200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itchFamily="34" charset="-120"/>
                          </a:rPr>
                          <m:t>𝜃</m:t>
                        </m:r>
                      </m:e>
                    </m:d>
                    <m:r>
                      <a:rPr lang="en-IN" sz="1200" i="1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|</m:t>
                    </m:r>
                    <m:r>
                      <a:rPr lang="en-IN" sz="12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34" charset="-120"/>
                      </a:rPr>
                      <m:t>&gt;</m:t>
                    </m:r>
                  </m:oMath>
                </a14:m>
                <a:r>
                  <a:rPr lang="en-US" sz="12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is recovered</a:t>
                </a:r>
              </a:p>
              <a:p>
                <a:pPr marL="0" indent="0" algn="ctr">
                  <a:buNone/>
                </a:pPr>
                <a:r>
                  <a:rPr lang="en-US" sz="1300" dirty="0">
                    <a:solidFill>
                      <a:schemeClr val="bg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</a:t>
                </a:r>
                <a:endParaRPr lang="en-US" sz="13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60" y="3372050"/>
                <a:ext cx="3977640" cy="1577804"/>
              </a:xfrm>
              <a:prstGeom prst="rect">
                <a:avLst/>
              </a:prstGeom>
              <a:blipFill>
                <a:blip r:embed="rId3"/>
                <a:stretch>
                  <a:fillRect t="-7722" r="-15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4">
            <a:extLst>
              <a:ext uri="{FF2B5EF4-FFF2-40B4-BE49-F238E27FC236}">
                <a16:creationId xmlns:a16="http://schemas.microsoft.com/office/drawing/2014/main" id="{65A9D674-0CDC-FFAE-B250-51FDC70BB250}"/>
              </a:ext>
            </a:extLst>
          </p:cNvPr>
          <p:cNvSpPr/>
          <p:nvPr/>
        </p:nvSpPr>
        <p:spPr>
          <a:xfrm>
            <a:off x="297180" y="3285644"/>
            <a:ext cx="4091940" cy="1670403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832DBB54-C57C-1F1D-E03E-0CE08E8D33B3}"/>
              </a:ext>
            </a:extLst>
          </p:cNvPr>
          <p:cNvSpPr/>
          <p:nvPr/>
        </p:nvSpPr>
        <p:spPr>
          <a:xfrm>
            <a:off x="354330" y="3305696"/>
            <a:ext cx="3977640" cy="158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solidFill>
                <a:srgbClr val="00C2CB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 25">
                <a:extLst>
                  <a:ext uri="{FF2B5EF4-FFF2-40B4-BE49-F238E27FC236}">
                    <a16:creationId xmlns:a16="http://schemas.microsoft.com/office/drawing/2014/main" id="{CF0B1FBF-9BC4-ADDD-C8E2-C6C369D54411}"/>
                  </a:ext>
                </a:extLst>
              </p:cNvPr>
              <p:cNvSpPr/>
              <p:nvPr/>
            </p:nvSpPr>
            <p:spPr>
              <a:xfrm>
                <a:off x="297180" y="3285643"/>
                <a:ext cx="3977640" cy="157780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IN" sz="1300" b="1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The problem with a standard VQE –</a:t>
                </a:r>
              </a:p>
              <a:p>
                <a:pPr algn="ctr"/>
                <a:r>
                  <a:rPr lang="en-IN" sz="1300" dirty="0">
                    <a:solidFill>
                      <a:schemeClr val="bg2"/>
                    </a:solidFill>
                    <a:latin typeface="Consolas" pitchFamily="34" charset="0"/>
                  </a:rPr>
                  <a:t>It calculates the average of all measurement values into the energy function </a:t>
                </a:r>
                <a14:m>
                  <m:oMath xmlns:m="http://schemas.openxmlformats.org/officeDocument/2006/math">
                    <m:r>
                      <a:rPr lang="en-IN" sz="13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IN" sz="13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IN" sz="13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IN" sz="1300" b="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300" b="0" dirty="0">
                  <a:solidFill>
                    <a:schemeClr val="bg2"/>
                  </a:solidFill>
                  <a:latin typeface="Consolas" pitchFamily="34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300" dirty="0">
                  <a:solidFill>
                    <a:schemeClr val="bg2"/>
                  </a:solidFill>
                </a:endParaRPr>
              </a:p>
              <a:p>
                <a:pPr algn="ctr"/>
                <a:r>
                  <a:rPr lang="en-IN" sz="1300" dirty="0">
                    <a:solidFill>
                      <a:schemeClr val="bg2"/>
                    </a:solidFill>
                    <a:latin typeface="Consolas" pitchFamily="34" charset="0"/>
                  </a:rPr>
                  <a:t>Standard averages can lead to Barren Plateaus, where optimisers may fail.</a:t>
                </a:r>
                <a:endParaRPr lang="en-US" sz="13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1" name="Text 25">
                <a:extLst>
                  <a:ext uri="{FF2B5EF4-FFF2-40B4-BE49-F238E27FC236}">
                    <a16:creationId xmlns:a16="http://schemas.microsoft.com/office/drawing/2014/main" id="{CF0B1FBF-9BC4-ADDD-C8E2-C6C369D54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" y="3285643"/>
                <a:ext cx="3977640" cy="1577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28CE-5315-F2E4-6CD5-97767D3F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42C51985-9760-1CAF-4943-F31EA81252E1}"/>
              </a:ext>
            </a:extLst>
          </p:cNvPr>
          <p:cNvSpPr/>
          <p:nvPr/>
        </p:nvSpPr>
        <p:spPr>
          <a:xfrm>
            <a:off x="8124217" y="160413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8DA50287-95F1-07B6-CFED-75D5E77275D3}"/>
              </a:ext>
            </a:extLst>
          </p:cNvPr>
          <p:cNvSpPr/>
          <p:nvPr/>
        </p:nvSpPr>
        <p:spPr>
          <a:xfrm>
            <a:off x="8398537" y="160413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F69A6AAB-5BBE-2A76-440A-2908997976D5}"/>
              </a:ext>
            </a:extLst>
          </p:cNvPr>
          <p:cNvSpPr/>
          <p:nvPr/>
        </p:nvSpPr>
        <p:spPr>
          <a:xfrm>
            <a:off x="8672857" y="160413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77F683CB-9E90-4F65-DD82-CA9D3837E18A}"/>
              </a:ext>
            </a:extLst>
          </p:cNvPr>
          <p:cNvSpPr/>
          <p:nvPr/>
        </p:nvSpPr>
        <p:spPr>
          <a:xfrm>
            <a:off x="8947177" y="160413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E6D72B86-309D-FF3D-545F-94F31F91828A}"/>
              </a:ext>
            </a:extLst>
          </p:cNvPr>
          <p:cNvSpPr/>
          <p:nvPr/>
        </p:nvSpPr>
        <p:spPr>
          <a:xfrm>
            <a:off x="8124217" y="370725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190F7AD-2338-EECA-E6EE-AEEEAF13C2EB}"/>
              </a:ext>
            </a:extLst>
          </p:cNvPr>
          <p:cNvSpPr/>
          <p:nvPr/>
        </p:nvSpPr>
        <p:spPr>
          <a:xfrm>
            <a:off x="8398537" y="370725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9BC3597B-845B-3631-EB7E-69F0CB9028F3}"/>
              </a:ext>
            </a:extLst>
          </p:cNvPr>
          <p:cNvSpPr/>
          <p:nvPr/>
        </p:nvSpPr>
        <p:spPr>
          <a:xfrm>
            <a:off x="8672857" y="370725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567096B8-5215-B0F6-5B80-D5896067518D}"/>
              </a:ext>
            </a:extLst>
          </p:cNvPr>
          <p:cNvSpPr/>
          <p:nvPr/>
        </p:nvSpPr>
        <p:spPr>
          <a:xfrm>
            <a:off x="8947177" y="370725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DE626EDF-39DA-D15D-8882-787EF3AD8F4B}"/>
              </a:ext>
            </a:extLst>
          </p:cNvPr>
          <p:cNvSpPr/>
          <p:nvPr/>
        </p:nvSpPr>
        <p:spPr>
          <a:xfrm>
            <a:off x="8124217" y="581037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B28ED4F2-84B8-372F-B12C-A07F4B972215}"/>
              </a:ext>
            </a:extLst>
          </p:cNvPr>
          <p:cNvSpPr/>
          <p:nvPr/>
        </p:nvSpPr>
        <p:spPr>
          <a:xfrm>
            <a:off x="8398537" y="581037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6DEED2E0-3B37-8169-0DD9-B990809853F5}"/>
              </a:ext>
            </a:extLst>
          </p:cNvPr>
          <p:cNvSpPr/>
          <p:nvPr/>
        </p:nvSpPr>
        <p:spPr>
          <a:xfrm>
            <a:off x="8672857" y="581037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57DC59B2-CAA6-0529-A979-DD4A680A1BD0}"/>
              </a:ext>
            </a:extLst>
          </p:cNvPr>
          <p:cNvSpPr/>
          <p:nvPr/>
        </p:nvSpPr>
        <p:spPr>
          <a:xfrm>
            <a:off x="8947177" y="581037"/>
            <a:ext cx="54864" cy="54864"/>
          </a:xfrm>
          <a:prstGeom prst="ellipse">
            <a:avLst/>
          </a:prstGeom>
          <a:solidFill>
            <a:srgbClr val="1E90FF">
              <a:alpha val="35000"/>
            </a:srgbClr>
          </a:solidFill>
          <a:ln w="12700">
            <a:solidFill>
              <a:srgbClr val="1E90FF">
                <a:alpha val="35000"/>
              </a:srgbClr>
            </a:solidFill>
            <a:prstDash val="solid"/>
          </a:ln>
        </p:spPr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D69D5BB4-7058-44C7-7DF6-5DE2A95592F5}"/>
              </a:ext>
            </a:extLst>
          </p:cNvPr>
          <p:cNvSpPr/>
          <p:nvPr/>
        </p:nvSpPr>
        <p:spPr>
          <a:xfrm>
            <a:off x="207369" y="246735"/>
            <a:ext cx="50292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075E27F6-9432-217B-5504-31E9676ED54E}"/>
              </a:ext>
            </a:extLst>
          </p:cNvPr>
          <p:cNvSpPr/>
          <p:nvPr/>
        </p:nvSpPr>
        <p:spPr>
          <a:xfrm>
            <a:off x="298809" y="191871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Evaluation</a:t>
            </a:r>
            <a:endParaRPr lang="en-US" sz="26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B8E90F25-F6BA-BF26-65D5-6D21530633EB}"/>
              </a:ext>
            </a:extLst>
          </p:cNvPr>
          <p:cNvSpPr/>
          <p:nvPr/>
        </p:nvSpPr>
        <p:spPr>
          <a:xfrm>
            <a:off x="298809" y="589635"/>
            <a:ext cx="36164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Eigenvalues  ·  CVaR  ·  Shot-Based Optimisation</a:t>
            </a:r>
            <a:endParaRPr lang="en-US" sz="1100" dirty="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F463BDAE-0781-D57A-019A-54BEB9A8A3D9}"/>
              </a:ext>
            </a:extLst>
          </p:cNvPr>
          <p:cNvSpPr/>
          <p:nvPr/>
        </p:nvSpPr>
        <p:spPr>
          <a:xfrm>
            <a:off x="207369" y="923391"/>
            <a:ext cx="8558784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60691761-3453-BBBB-7AD7-35C551EC123C}"/>
              </a:ext>
            </a:extLst>
          </p:cNvPr>
          <p:cNvSpPr/>
          <p:nvPr/>
        </p:nvSpPr>
        <p:spPr>
          <a:xfrm>
            <a:off x="207369" y="1014831"/>
            <a:ext cx="4114800" cy="1515308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2828CA34-877B-8375-0B49-E51FA53BDE3D}"/>
              </a:ext>
            </a:extLst>
          </p:cNvPr>
          <p:cNvSpPr/>
          <p:nvPr/>
        </p:nvSpPr>
        <p:spPr>
          <a:xfrm>
            <a:off x="207369" y="1014831"/>
            <a:ext cx="4114800" cy="50292"/>
          </a:xfrm>
          <a:prstGeom prst="rect">
            <a:avLst/>
          </a:prstGeom>
          <a:solidFill>
            <a:srgbClr val="0D7FD6"/>
          </a:solidFill>
          <a:ln w="12700">
            <a:solidFill>
              <a:srgbClr val="0D7FD6"/>
            </a:solidFill>
            <a:prstDash val="solid"/>
          </a:ln>
        </p:spPr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5012D46B-2335-727D-30FD-E43FD1C9386A}"/>
              </a:ext>
            </a:extLst>
          </p:cNvPr>
          <p:cNvSpPr/>
          <p:nvPr/>
        </p:nvSpPr>
        <p:spPr>
          <a:xfrm>
            <a:off x="371961" y="1078839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Constructing the Hamiltonian</a:t>
            </a:r>
            <a:endParaRPr lang="en-US" sz="110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FF8E3FC2-D90D-D4C9-CC71-412D11FE83AD}"/>
              </a:ext>
            </a:extLst>
          </p:cNvPr>
          <p:cNvSpPr/>
          <p:nvPr/>
        </p:nvSpPr>
        <p:spPr>
          <a:xfrm>
            <a:off x="335385" y="1380591"/>
            <a:ext cx="3840480" cy="0"/>
          </a:xfrm>
          <a:prstGeom prst="line">
            <a:avLst/>
          </a:prstGeom>
          <a:noFill/>
          <a:ln w="9525">
            <a:solidFill>
              <a:srgbClr val="1E3A5C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20">
                <a:extLst>
                  <a:ext uri="{FF2B5EF4-FFF2-40B4-BE49-F238E27FC236}">
                    <a16:creationId xmlns:a16="http://schemas.microsoft.com/office/drawing/2014/main" id="{162F45F7-F946-AF8F-E7B8-6707F84F6F02}"/>
                  </a:ext>
                </a:extLst>
              </p:cNvPr>
              <p:cNvSpPr/>
              <p:nvPr/>
            </p:nvSpPr>
            <p:spPr>
              <a:xfrm>
                <a:off x="335385" y="1435455"/>
                <a:ext cx="3840480" cy="11759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IN" sz="1100" b="0" dirty="0">
                    <a:solidFill>
                      <a:srgbClr val="9FC8E8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100" b="0" i="1" smtClean="0">
                        <a:solidFill>
                          <a:srgbClr val="9FC8E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𝑃</m:t>
                    </m:r>
                    <m:r>
                      <a:rPr lang="en-IN" sz="1100" b="0" i="1" smtClean="0">
                        <a:solidFill>
                          <a:srgbClr val="9FC8E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=1+</m:t>
                    </m:r>
                    <m:nary>
                      <m:naryPr>
                        <m:chr m:val="∑"/>
                        <m:ctrlP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𝑗</m:t>
                        </m:r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𝑝</m:t>
                            </m:r>
                          </m:sub>
                        </m:sSub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2</m:t>
                            </m:r>
                          </m:e>
                          <m:sup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𝑗</m:t>
                            </m:r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−1</m:t>
                            </m:r>
                          </m:sup>
                        </m:sSup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(</m:t>
                        </m:r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𝐼</m:t>
                        </m:r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𝑍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𝑝</m:t>
                            </m:r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,</m:t>
                            </m:r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𝑗</m:t>
                            </m:r>
                          </m:sub>
                        </m:sSub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100" dirty="0">
                    <a:solidFill>
                      <a:srgbClr val="9FC8E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100" b="0" i="0" smtClean="0">
                        <a:solidFill>
                          <a:srgbClr val="9FC8E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Q</m:t>
                    </m:r>
                    <m:r>
                      <a:rPr lang="en-IN" sz="1100" i="1">
                        <a:solidFill>
                          <a:srgbClr val="9FC8E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=1+</m:t>
                    </m:r>
                    <m:nary>
                      <m:naryPr>
                        <m:chr m:val="∑"/>
                        <m:ctrlP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naryPr>
                      <m:sub>
                        <m:r>
                          <a:rPr lang="en-IN" sz="1100" b="0" i="1" smtClean="0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𝑘</m:t>
                        </m:r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𝑞</m:t>
                            </m:r>
                          </m:sub>
                        </m:sSub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2</m:t>
                            </m:r>
                          </m:e>
                          <m:sup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𝑘</m:t>
                            </m:r>
                            <m: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−1</m:t>
                            </m:r>
                          </m:sup>
                        </m:sSup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(</m:t>
                        </m:r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𝐼</m:t>
                        </m:r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𝑍</m:t>
                            </m:r>
                          </m:e>
                          <m:sub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𝑞</m:t>
                            </m:r>
                            <m:r>
                              <a:rPr lang="en-IN" sz="1100" i="1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,</m:t>
                            </m:r>
                            <m:r>
                              <a:rPr lang="en-IN" sz="1100" b="0" i="1" smtClean="0">
                                <a:solidFill>
                                  <a:srgbClr val="9FC8E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𝑘</m:t>
                            </m:r>
                          </m:sub>
                        </m:sSub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)</m:t>
                        </m:r>
                      </m:e>
                    </m:nary>
                  </m:oMath>
                </a14:m>
                <a:endParaRPr lang="en-US" sz="1100" dirty="0">
                  <a:solidFill>
                    <a:srgbClr val="9F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b="0" i="1" smtClean="0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𝐻</m:t>
                      </m:r>
                      <m:r>
                        <a:rPr lang="en-IN" sz="1100" b="0" i="1" smtClean="0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(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𝑛𝐼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−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𝑃𝑄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100" dirty="0">
                  <a:solidFill>
                    <a:srgbClr val="9F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9FC8E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Using this in our cost function evaluation, we have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100" b="0" i="1" smtClean="0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𝐻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𝑝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,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𝑞</m:t>
                          </m:r>
                          <m:r>
                            <a:rPr lang="en-IN" sz="1100" b="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  <a:sym typeface="Symbol" panose="05050102010706020507" pitchFamily="18" charset="2"/>
                            </a:rPr>
                            <m:t>= </m:t>
                          </m:r>
                          <m:sSub>
                            <m:sSubPr>
                              <m:ctrlPr>
                                <a:rPr lang="en-IN" sz="1100" b="0" i="1" smtClean="0">
                                  <a:solidFill>
                                    <a:srgbClr val="9FC8E8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IN" sz="1100" i="1">
                                  <a:solidFill>
                                    <a:srgbClr val="9FC8E8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  <a:sym typeface="Symbol" panose="05050102010706020507" pitchFamily="18" charset="2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IN" sz="1100" b="0" i="1" smtClean="0">
                                  <a:solidFill>
                                    <a:srgbClr val="9FC8E8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  <a:sym typeface="Symbol" panose="05050102010706020507" pitchFamily="18" charset="2"/>
                                </a:rPr>
                                <m:t>𝑝</m:t>
                              </m:r>
                              <m:r>
                                <a:rPr lang="en-IN" sz="1100" b="0" i="1" smtClean="0">
                                  <a:solidFill>
                                    <a:srgbClr val="9FC8E8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  <a:sym typeface="Symbol" panose="05050102010706020507" pitchFamily="18" charset="2"/>
                                </a:rPr>
                                <m:t>,</m:t>
                              </m:r>
                              <m:r>
                                <a:rPr lang="en-IN" sz="1100" b="0" i="1" smtClean="0">
                                  <a:solidFill>
                                    <a:srgbClr val="9FC8E8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  <a:sym typeface="Symbol" panose="05050102010706020507" pitchFamily="18" charset="2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𝑝</m:t>
                      </m:r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𝑞</m:t>
                      </m:r>
                      <m:r>
                        <a:rPr lang="en-IN" sz="1100" i="1" smtClean="0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  <a:sym typeface="Symbol" panose="05050102010706020507" pitchFamily="18" charset="2"/>
                        </a:rPr>
                        <m:t></m:t>
                      </m:r>
                      <m:r>
                        <a:rPr lang="en-IN" sz="1100" b="0" i="1" smtClean="0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  <a:sym typeface="Symbol" panose="05050102010706020507" pitchFamily="18" charset="2"/>
                        </a:rPr>
                        <m:t>=</m:t>
                      </m:r>
                      <m:sSup>
                        <m:sSupPr>
                          <m:ctrlPr>
                            <a:rPr lang="en-IN" sz="1100" i="1" smtClean="0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n-IN" sz="1100" i="1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(</m:t>
                          </m:r>
                          <m:r>
                            <a:rPr lang="en-IN" sz="1100" i="1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𝑛𝐼</m:t>
                          </m:r>
                          <m:r>
                            <a:rPr lang="en-IN" sz="1100" i="1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−</m:t>
                          </m:r>
                          <m:r>
                            <a:rPr lang="en-IN" sz="1100" i="1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𝑃𝑄</m:t>
                          </m:r>
                          <m:r>
                            <a:rPr lang="en-IN" sz="1100" i="1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IN" sz="1100" i="1">
                              <a:solidFill>
                                <a:srgbClr val="9FC8E8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2</m:t>
                          </m:r>
                        </m:sup>
                      </m:sSup>
                      <m:r>
                        <a:rPr lang="en-IN" sz="1100" b="0" i="1" smtClean="0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|</m:t>
                      </m:r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𝑝</m:t>
                      </m:r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,</m:t>
                      </m:r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𝑞</m:t>
                      </m:r>
                      <m:r>
                        <a:rPr lang="en-IN" sz="1100" i="1">
                          <a:solidFill>
                            <a:srgbClr val="9FC8E8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  <a:sym typeface="Symbol" panose="05050102010706020507" pitchFamily="18" charset="2"/>
                        </a:rPr>
                        <m:t></m:t>
                      </m:r>
                    </m:oMath>
                  </m:oMathPara>
                </a14:m>
                <a:endParaRPr lang="en-US" sz="1100" dirty="0">
                  <a:solidFill>
                    <a:srgbClr val="9F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r>
                  <a:rPr lang="en-US" sz="1100" dirty="0">
                    <a:solidFill>
                      <a:srgbClr val="9FC8E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Each measured bitstring |p, q⟩ has eigenvalue</a:t>
                </a:r>
                <a:r>
                  <a:rPr lang="en-IN" sz="1100" dirty="0">
                    <a:solidFill>
                      <a:srgbClr val="9FC8E8"/>
                    </a:solidFill>
                    <a:ea typeface="Calibri" pitchFamily="34" charset="-122"/>
                    <a:cs typeface="Calibri" pitchFamily="34" charset="-12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  <a:sym typeface="Symbol" panose="05050102010706020507" pitchFamily="18" charset="2"/>
                          </a:rPr>
                          <m:t></m:t>
                        </m:r>
                      </m:e>
                      <m:sub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  <a:sym typeface="Symbol" panose="05050102010706020507" pitchFamily="18" charset="2"/>
                          </a:rPr>
                          <m:t>𝑝</m:t>
                        </m:r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IN" sz="1100" i="1">
                            <a:solidFill>
                              <a:srgbClr val="9FC8E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  <a:sym typeface="Symbol" panose="05050102010706020507" pitchFamily="18" charset="2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9FC8E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</a:p>
            </p:txBody>
          </p:sp>
        </mc:Choice>
        <mc:Fallback>
          <p:sp>
            <p:nvSpPr>
              <p:cNvPr id="43" name="Text 20">
                <a:extLst>
                  <a:ext uri="{FF2B5EF4-FFF2-40B4-BE49-F238E27FC236}">
                    <a16:creationId xmlns:a16="http://schemas.microsoft.com/office/drawing/2014/main" id="{162F45F7-F946-AF8F-E7B8-6707F84F6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85" y="1435455"/>
                <a:ext cx="3840480" cy="1175936"/>
              </a:xfrm>
              <a:prstGeom prst="rect">
                <a:avLst/>
              </a:prstGeom>
              <a:blipFill>
                <a:blip r:embed="rId3"/>
                <a:stretch>
                  <a:fillRect l="-2222" t="-20725" r="-1746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hape 21">
            <a:extLst>
              <a:ext uri="{FF2B5EF4-FFF2-40B4-BE49-F238E27FC236}">
                <a16:creationId xmlns:a16="http://schemas.microsoft.com/office/drawing/2014/main" id="{58CE18DC-2C47-9155-E6E0-74C3BF344861}"/>
              </a:ext>
            </a:extLst>
          </p:cNvPr>
          <p:cNvSpPr/>
          <p:nvPr/>
        </p:nvSpPr>
        <p:spPr>
          <a:xfrm>
            <a:off x="207369" y="2621578"/>
            <a:ext cx="4114800" cy="1385277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37617FCD-C3D1-025F-83EA-4C7F3C6BBD97}"/>
              </a:ext>
            </a:extLst>
          </p:cNvPr>
          <p:cNvSpPr/>
          <p:nvPr/>
        </p:nvSpPr>
        <p:spPr>
          <a:xfrm flipV="1">
            <a:off x="207369" y="2634559"/>
            <a:ext cx="4114800" cy="4571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16F7F7A2-7D41-7B43-86BE-834D97B16373}"/>
              </a:ext>
            </a:extLst>
          </p:cNvPr>
          <p:cNvSpPr/>
          <p:nvPr/>
        </p:nvSpPr>
        <p:spPr>
          <a:xfrm>
            <a:off x="371961" y="2735609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CVaR Cost Function</a:t>
            </a:r>
            <a:endParaRPr lang="en-US" sz="1100" dirty="0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C69AD698-C85A-10BE-C97E-DAA67F49A02F}"/>
              </a:ext>
            </a:extLst>
          </p:cNvPr>
          <p:cNvSpPr/>
          <p:nvPr/>
        </p:nvSpPr>
        <p:spPr>
          <a:xfrm>
            <a:off x="298809" y="2991641"/>
            <a:ext cx="3840480" cy="0"/>
          </a:xfrm>
          <a:prstGeom prst="line">
            <a:avLst/>
          </a:prstGeom>
          <a:noFill/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D541026B-8D48-3981-6459-17F8F29303DC}"/>
              </a:ext>
            </a:extLst>
          </p:cNvPr>
          <p:cNvSpPr/>
          <p:nvPr/>
        </p:nvSpPr>
        <p:spPr>
          <a:xfrm>
            <a:off x="298809" y="3021783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circuit is measured S times, producing S eigenvalues {e₁, e₂, … eₛ}.</a:t>
            </a:r>
            <a:r>
              <a:rPr lang="en-US" sz="950" dirty="0"/>
              <a:t> </a:t>
            </a:r>
            <a:r>
              <a:rPr lang="en-US" sz="95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S eigenvalues in ascending order. </a:t>
            </a:r>
          </a:p>
          <a:p>
            <a:r>
              <a:rPr lang="en-US" sz="95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mean of only the lowest α·S values:</a:t>
            </a:r>
            <a:endParaRPr lang="en-US" sz="950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F1D1AE59-C834-8D51-AC5F-CA95F005302A}"/>
              </a:ext>
            </a:extLst>
          </p:cNvPr>
          <p:cNvSpPr/>
          <p:nvPr/>
        </p:nvSpPr>
        <p:spPr>
          <a:xfrm>
            <a:off x="737721" y="3556553"/>
            <a:ext cx="3017520" cy="420624"/>
          </a:xfrm>
          <a:prstGeom prst="rect">
            <a:avLst/>
          </a:prstGeom>
          <a:solidFill>
            <a:srgbClr val="0820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3E08B050-82F8-4A72-3A5C-6AACF9E7E296}"/>
              </a:ext>
            </a:extLst>
          </p:cNvPr>
          <p:cNvSpPr/>
          <p:nvPr/>
        </p:nvSpPr>
        <p:spPr>
          <a:xfrm>
            <a:off x="737721" y="3556553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CVaR(α, S)  =  (1/⌊αS⌋) · Σ eₖ   [k=1..⌊αS⌋]</a:t>
            </a:r>
            <a:endParaRPr lang="en-US" sz="100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5066D11D-90BD-FF66-77CF-5A18246BE562}"/>
              </a:ext>
            </a:extLst>
          </p:cNvPr>
          <p:cNvSpPr/>
          <p:nvPr/>
        </p:nvSpPr>
        <p:spPr>
          <a:xfrm>
            <a:off x="207369" y="4075127"/>
            <a:ext cx="4114800" cy="7589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B60B0D25-7114-CB36-8DEC-643DD98226DE}"/>
              </a:ext>
            </a:extLst>
          </p:cNvPr>
          <p:cNvSpPr/>
          <p:nvPr/>
        </p:nvSpPr>
        <p:spPr>
          <a:xfrm>
            <a:off x="207369" y="4098295"/>
            <a:ext cx="4114800" cy="50292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35002A35-2B24-A791-D109-BD6D41A2F388}"/>
              </a:ext>
            </a:extLst>
          </p:cNvPr>
          <p:cNvSpPr/>
          <p:nvPr/>
        </p:nvSpPr>
        <p:spPr>
          <a:xfrm>
            <a:off x="381105" y="416199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α — The Tradeoff</a:t>
            </a:r>
            <a:endParaRPr lang="en-US" sz="1100" dirty="0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D6E3F5EC-8EB9-0471-9249-9035C40FE8AF}"/>
              </a:ext>
            </a:extLst>
          </p:cNvPr>
          <p:cNvSpPr/>
          <p:nvPr/>
        </p:nvSpPr>
        <p:spPr>
          <a:xfrm>
            <a:off x="335385" y="4213527"/>
            <a:ext cx="3840480" cy="0"/>
          </a:xfrm>
          <a:prstGeom prst="line">
            <a:avLst/>
          </a:prstGeom>
          <a:noFill/>
          <a:ln w="9525">
            <a:solidFill>
              <a:srgbClr val="1E3A5C"/>
            </a:solidFill>
            <a:prstDash val="solid"/>
          </a:ln>
        </p:spPr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8D1B31CB-8871-FA0F-CDD5-D9DA18FA0DAE}"/>
              </a:ext>
            </a:extLst>
          </p:cNvPr>
          <p:cNvSpPr/>
          <p:nvPr/>
        </p:nvSpPr>
        <p:spPr>
          <a:xfrm>
            <a:off x="344529" y="4450031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α → focuses on lowest-energy shots → better for finding the solution. But α→0 makes the landscape discontinuous and the CVaR estimate noisy</a:t>
            </a:r>
            <a:endParaRPr lang="en-US" sz="900" dirty="0"/>
          </a:p>
        </p:txBody>
      </p:sp>
      <p:sp>
        <p:nvSpPr>
          <p:cNvPr id="56" name="Shape 33">
            <a:extLst>
              <a:ext uri="{FF2B5EF4-FFF2-40B4-BE49-F238E27FC236}">
                <a16:creationId xmlns:a16="http://schemas.microsoft.com/office/drawing/2014/main" id="{FDCDD6F4-8B02-A38D-B9EE-F9DD40ACDC6A}"/>
              </a:ext>
            </a:extLst>
          </p:cNvPr>
          <p:cNvSpPr/>
          <p:nvPr/>
        </p:nvSpPr>
        <p:spPr>
          <a:xfrm>
            <a:off x="4578201" y="1014831"/>
            <a:ext cx="4187952" cy="190195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8CE5BA02-ABBA-E69D-1710-B98858881260}"/>
              </a:ext>
            </a:extLst>
          </p:cNvPr>
          <p:cNvSpPr/>
          <p:nvPr/>
        </p:nvSpPr>
        <p:spPr>
          <a:xfrm>
            <a:off x="4578201" y="1014831"/>
            <a:ext cx="4187952" cy="50292"/>
          </a:xfrm>
          <a:prstGeom prst="rect">
            <a:avLst/>
          </a:prstGeom>
          <a:solidFill>
            <a:srgbClr val="9467BD"/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BDB2BE9C-3972-C6CC-E80C-150442DD4F4D}"/>
              </a:ext>
            </a:extLst>
          </p:cNvPr>
          <p:cNvSpPr/>
          <p:nvPr/>
        </p:nvSpPr>
        <p:spPr>
          <a:xfrm>
            <a:off x="4742793" y="107883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CVaR Instead of ⟨H⟩?</a:t>
            </a:r>
            <a:endParaRPr lang="en-US" sz="1100" dirty="0"/>
          </a:p>
        </p:txBody>
      </p:sp>
      <p:sp>
        <p:nvSpPr>
          <p:cNvPr id="59" name="Shape 36">
            <a:extLst>
              <a:ext uri="{FF2B5EF4-FFF2-40B4-BE49-F238E27FC236}">
                <a16:creationId xmlns:a16="http://schemas.microsoft.com/office/drawing/2014/main" id="{A6C08924-3F62-6135-6768-9F0422DAEBDD}"/>
              </a:ext>
            </a:extLst>
          </p:cNvPr>
          <p:cNvSpPr/>
          <p:nvPr/>
        </p:nvSpPr>
        <p:spPr>
          <a:xfrm>
            <a:off x="4706217" y="1380591"/>
            <a:ext cx="3840480" cy="0"/>
          </a:xfrm>
          <a:prstGeom prst="line">
            <a:avLst/>
          </a:prstGeom>
          <a:noFill/>
          <a:ln w="9525">
            <a:solidFill>
              <a:srgbClr val="1E3A5C"/>
            </a:solidFill>
            <a:prstDash val="solid"/>
          </a:ln>
        </p:spPr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E3B1B45E-5D28-550C-6EFB-AE62FA3704D6}"/>
              </a:ext>
            </a:extLst>
          </p:cNvPr>
          <p:cNvSpPr/>
          <p:nvPr/>
        </p:nvSpPr>
        <p:spPr>
          <a:xfrm>
            <a:off x="4706217" y="143545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factoring n = 9:</a:t>
            </a:r>
            <a:endParaRPr lang="en-US" sz="950" dirty="0"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2FDAC0C0-D15B-DD9A-A440-81B49D6E86C7}"/>
              </a:ext>
            </a:extLst>
          </p:cNvPr>
          <p:cNvSpPr/>
          <p:nvPr/>
        </p:nvSpPr>
        <p:spPr>
          <a:xfrm>
            <a:off x="4706217" y="1691487"/>
            <a:ext cx="3966640" cy="475488"/>
          </a:xfrm>
          <a:prstGeom prst="rect">
            <a:avLst/>
          </a:prstGeom>
          <a:solidFill>
            <a:srgbClr val="082030"/>
          </a:solidFill>
          <a:ln w="10160">
            <a:solidFill>
              <a:srgbClr val="2CA02C"/>
            </a:solidFill>
            <a:prstDash val="solid"/>
          </a:ln>
        </p:spPr>
      </p:sp>
      <p:sp>
        <p:nvSpPr>
          <p:cNvPr id="62" name="Text 39">
            <a:extLst>
              <a:ext uri="{FF2B5EF4-FFF2-40B4-BE49-F238E27FC236}">
                <a16:creationId xmlns:a16="http://schemas.microsoft.com/office/drawing/2014/main" id="{D720E75F-2E3A-FCF6-E615-91340DB5A66F}"/>
              </a:ext>
            </a:extLst>
          </p:cNvPr>
          <p:cNvSpPr/>
          <p:nvPr/>
        </p:nvSpPr>
        <p:spPr>
          <a:xfrm>
            <a:off x="4797657" y="171891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|ψ₁⟩ = √0.9|00⟩ + √0.1|11⟩</a:t>
            </a:r>
            <a:endParaRPr lang="en-US" sz="900" dirty="0"/>
          </a:p>
        </p:txBody>
      </p:sp>
      <p:sp>
        <p:nvSpPr>
          <p:cNvPr id="63" name="Text 40">
            <a:extLst>
              <a:ext uri="{FF2B5EF4-FFF2-40B4-BE49-F238E27FC236}">
                <a16:creationId xmlns:a16="http://schemas.microsoft.com/office/drawing/2014/main" id="{DC5829F1-868E-89A3-9768-D9226FEFC332}"/>
              </a:ext>
            </a:extLst>
          </p:cNvPr>
          <p:cNvSpPr/>
          <p:nvPr/>
        </p:nvSpPr>
        <p:spPr>
          <a:xfrm>
            <a:off x="4797657" y="1910943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⟨H⟩ = 57.6  |  CVaR(0.1) = 0.0  ✓</a:t>
            </a:r>
            <a:endParaRPr lang="en-US" sz="850" dirty="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82AE016B-A1F4-D7B0-C3C4-8603EF83AD39}"/>
              </a:ext>
            </a:extLst>
          </p:cNvPr>
          <p:cNvSpPr/>
          <p:nvPr/>
        </p:nvSpPr>
        <p:spPr>
          <a:xfrm>
            <a:off x="7403697" y="191094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chance of correct answer</a:t>
            </a:r>
            <a:endParaRPr lang="en-US" sz="780" dirty="0"/>
          </a:p>
        </p:txBody>
      </p:sp>
      <p:sp>
        <p:nvSpPr>
          <p:cNvPr id="65" name="Shape 42">
            <a:extLst>
              <a:ext uri="{FF2B5EF4-FFF2-40B4-BE49-F238E27FC236}">
                <a16:creationId xmlns:a16="http://schemas.microsoft.com/office/drawing/2014/main" id="{5C6683D2-F1C3-9C87-D4FF-31AB24A4B095}"/>
              </a:ext>
            </a:extLst>
          </p:cNvPr>
          <p:cNvSpPr/>
          <p:nvPr/>
        </p:nvSpPr>
        <p:spPr>
          <a:xfrm>
            <a:off x="4706217" y="2240127"/>
            <a:ext cx="3966640" cy="475488"/>
          </a:xfrm>
          <a:prstGeom prst="rect">
            <a:avLst/>
          </a:prstGeom>
          <a:solidFill>
            <a:srgbClr val="082030"/>
          </a:solidFill>
          <a:ln w="10160">
            <a:solidFill>
              <a:srgbClr val="D62728"/>
            </a:solidFill>
            <a:prstDash val="solid"/>
          </a:ln>
        </p:spPr>
      </p:sp>
      <p:sp>
        <p:nvSpPr>
          <p:cNvPr id="66" name="Text 43">
            <a:extLst>
              <a:ext uri="{FF2B5EF4-FFF2-40B4-BE49-F238E27FC236}">
                <a16:creationId xmlns:a16="http://schemas.microsoft.com/office/drawing/2014/main" id="{93D3E06F-1655-AD19-CB72-94FE14596887}"/>
              </a:ext>
            </a:extLst>
          </p:cNvPr>
          <p:cNvSpPr/>
          <p:nvPr/>
        </p:nvSpPr>
        <p:spPr>
          <a:xfrm>
            <a:off x="4797657" y="2267559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|ψ₂⟩ = √0.5|01⟩ + √0.5|10⟩</a:t>
            </a:r>
            <a:endParaRPr lang="en-US" sz="900" dirty="0"/>
          </a:p>
        </p:txBody>
      </p:sp>
      <p:sp>
        <p:nvSpPr>
          <p:cNvPr id="67" name="Text 44">
            <a:extLst>
              <a:ext uri="{FF2B5EF4-FFF2-40B4-BE49-F238E27FC236}">
                <a16:creationId xmlns:a16="http://schemas.microsoft.com/office/drawing/2014/main" id="{3995598D-61B9-E3FB-6B35-A8F55A6379F3}"/>
              </a:ext>
            </a:extLst>
          </p:cNvPr>
          <p:cNvSpPr/>
          <p:nvPr/>
        </p:nvSpPr>
        <p:spPr>
          <a:xfrm>
            <a:off x="4797657" y="2459583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⟨H⟩ = 36.0  |  CVaR(0.1) = 36.0  ✗</a:t>
            </a:r>
            <a:endParaRPr lang="en-US" sz="850" dirty="0"/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4070FD30-817B-540C-C84B-14FB56C4B0E8}"/>
              </a:ext>
            </a:extLst>
          </p:cNvPr>
          <p:cNvSpPr/>
          <p:nvPr/>
        </p:nvSpPr>
        <p:spPr>
          <a:xfrm>
            <a:off x="7403697" y="2459583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chance of correct answer</a:t>
            </a:r>
            <a:endParaRPr lang="en-US" sz="780" dirty="0"/>
          </a:p>
        </p:txBody>
      </p:sp>
      <p:sp>
        <p:nvSpPr>
          <p:cNvPr id="69" name="Text 46">
            <a:extLst>
              <a:ext uri="{FF2B5EF4-FFF2-40B4-BE49-F238E27FC236}">
                <a16:creationId xmlns:a16="http://schemas.microsoft.com/office/drawing/2014/main" id="{59516F02-C583-A27A-B2B8-AB59B3389BB4}"/>
              </a:ext>
            </a:extLst>
          </p:cNvPr>
          <p:cNvSpPr/>
          <p:nvPr/>
        </p:nvSpPr>
        <p:spPr>
          <a:xfrm>
            <a:off x="4614777" y="31010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VQE prefers |ψ₂⟩ (lower average energy) but CVaR correctly identifies |ψ₁⟩ as better — it has a 90% chance of yielding the solution in a single measurement.</a:t>
            </a:r>
            <a:endParaRPr lang="en-US" sz="900" dirty="0"/>
          </a:p>
        </p:txBody>
      </p:sp>
      <p:sp>
        <p:nvSpPr>
          <p:cNvPr id="70" name="Shape 47">
            <a:extLst>
              <a:ext uri="{FF2B5EF4-FFF2-40B4-BE49-F238E27FC236}">
                <a16:creationId xmlns:a16="http://schemas.microsoft.com/office/drawing/2014/main" id="{DE282805-37EA-E508-082C-825D84DEC2C6}"/>
              </a:ext>
            </a:extLst>
          </p:cNvPr>
          <p:cNvSpPr/>
          <p:nvPr/>
        </p:nvSpPr>
        <p:spPr>
          <a:xfrm>
            <a:off x="4578201" y="3672791"/>
            <a:ext cx="4187952" cy="1161288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Shape 48">
            <a:extLst>
              <a:ext uri="{FF2B5EF4-FFF2-40B4-BE49-F238E27FC236}">
                <a16:creationId xmlns:a16="http://schemas.microsoft.com/office/drawing/2014/main" id="{3F84E5A5-71F9-19A5-3157-314A42984BC3}"/>
              </a:ext>
            </a:extLst>
          </p:cNvPr>
          <p:cNvSpPr/>
          <p:nvPr/>
        </p:nvSpPr>
        <p:spPr>
          <a:xfrm>
            <a:off x="4578201" y="3672791"/>
            <a:ext cx="4187952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Text 49">
            <a:extLst>
              <a:ext uri="{FF2B5EF4-FFF2-40B4-BE49-F238E27FC236}">
                <a16:creationId xmlns:a16="http://schemas.microsoft.com/office/drawing/2014/main" id="{130C938F-F2F8-72DE-A68C-1F9A42392190}"/>
              </a:ext>
            </a:extLst>
          </p:cNvPr>
          <p:cNvSpPr/>
          <p:nvPr/>
        </p:nvSpPr>
        <p:spPr>
          <a:xfrm>
            <a:off x="4742793" y="373679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Bitstring Encoding  |p, q⟩</a:t>
            </a:r>
            <a:endParaRPr lang="en-US" sz="1100" dirty="0"/>
          </a:p>
        </p:txBody>
      </p:sp>
      <p:sp>
        <p:nvSpPr>
          <p:cNvPr id="73" name="Shape 50">
            <a:extLst>
              <a:ext uri="{FF2B5EF4-FFF2-40B4-BE49-F238E27FC236}">
                <a16:creationId xmlns:a16="http://schemas.microsoft.com/office/drawing/2014/main" id="{77D5A726-472F-E57D-DF63-95EC093F1027}"/>
              </a:ext>
            </a:extLst>
          </p:cNvPr>
          <p:cNvSpPr/>
          <p:nvPr/>
        </p:nvSpPr>
        <p:spPr>
          <a:xfrm>
            <a:off x="4706217" y="4020263"/>
            <a:ext cx="3840480" cy="0"/>
          </a:xfrm>
          <a:prstGeom prst="line">
            <a:avLst/>
          </a:prstGeom>
          <a:noFill/>
          <a:ln w="9525">
            <a:solidFill>
              <a:srgbClr val="1E3A5C"/>
            </a:solidFill>
            <a:prstDash val="solid"/>
          </a:ln>
        </p:spPr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18F79BE3-F570-0D5B-C883-ECF73E9F07D3}"/>
              </a:ext>
            </a:extLst>
          </p:cNvPr>
          <p:cNvSpPr/>
          <p:nvPr/>
        </p:nvSpPr>
        <p:spPr>
          <a:xfrm>
            <a:off x="4706217" y="4075127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|p</a:t>
            </a:r>
            <a:r>
              <a:rPr lang="en-US" sz="70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Np−1</a:t>
            </a:r>
            <a:r>
              <a:rPr lang="en-US" sz="92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p₁  q</a:t>
            </a:r>
            <a:r>
              <a:rPr lang="en-US" sz="70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Nq−1</a:t>
            </a:r>
            <a:r>
              <a:rPr lang="en-US" sz="92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q₁⟩  with p₀ = q₀ = 1 implicit.
</a:t>
            </a:r>
            <a:endParaRPr lang="en-US" sz="920" dirty="0"/>
          </a:p>
          <a:p>
            <a:pPr marL="0" indent="0">
              <a:buNone/>
            </a:pPr>
            <a:r>
              <a:rPr lang="en-US" sz="92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|010001⟩  →  p = 0101 → p=5,  q = 0011 → q=3
</a:t>
            </a:r>
            <a:endParaRPr lang="en-US" sz="920" dirty="0"/>
          </a:p>
          <a:p>
            <a:pPr marL="0" indent="0">
              <a:buNone/>
            </a:pPr>
            <a:r>
              <a:rPr lang="en-US" sz="920" i="1" dirty="0">
                <a:solidFill>
                  <a:srgbClr val="7E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state of H if n = 15, since (15 − 5×3)² = 0</a:t>
            </a:r>
            <a:endParaRPr lang="en-US" sz="920" dirty="0"/>
          </a:p>
        </p:txBody>
      </p:sp>
      <p:sp>
        <p:nvSpPr>
          <p:cNvPr id="75" name="Text 52">
            <a:extLst>
              <a:ext uri="{FF2B5EF4-FFF2-40B4-BE49-F238E27FC236}">
                <a16:creationId xmlns:a16="http://schemas.microsoft.com/office/drawing/2014/main" id="{0BBFF86A-8940-7328-E0FB-498F5F97617C}"/>
              </a:ext>
            </a:extLst>
          </p:cNvPr>
          <p:cNvSpPr/>
          <p:nvPr/>
        </p:nvSpPr>
        <p:spPr>
          <a:xfrm>
            <a:off x="4087991" y="153009"/>
            <a:ext cx="37696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with small α maximises the chance of observing the correct factors in at least one shot — the natural metric for the factoring problem.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46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8" grpId="0" animBg="1"/>
      <p:bldP spid="60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Linear-CNOT Ansatz Architecture</a:t>
            </a:r>
            <a:endParaRPr lang="en-US" sz="30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39" y="949457"/>
            <a:ext cx="6034410" cy="253756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6664563-0530-266F-308F-1DEB5B788C35}"/>
              </a:ext>
            </a:extLst>
          </p:cNvPr>
          <p:cNvGrpSpPr/>
          <p:nvPr/>
        </p:nvGrpSpPr>
        <p:grpSpPr>
          <a:xfrm>
            <a:off x="6448845" y="898653"/>
            <a:ext cx="475488" cy="487758"/>
            <a:chOff x="5852160" y="809967"/>
            <a:chExt cx="475488" cy="487758"/>
          </a:xfrm>
        </p:grpSpPr>
        <p:sp>
          <p:nvSpPr>
            <p:cNvPr id="4" name="Shape 1"/>
            <p:cNvSpPr/>
            <p:nvPr/>
          </p:nvSpPr>
          <p:spPr>
            <a:xfrm>
              <a:off x="5852160" y="822237"/>
              <a:ext cx="475488" cy="475488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5" name="Text 2"/>
            <p:cNvSpPr/>
            <p:nvPr/>
          </p:nvSpPr>
          <p:spPr>
            <a:xfrm>
              <a:off x="5852160" y="809967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</a:t>
              </a:r>
              <a:endParaRPr lang="en-US" sz="11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7C99D7-D505-55D7-C463-6E1A95349788}"/>
              </a:ext>
            </a:extLst>
          </p:cNvPr>
          <p:cNvGrpSpPr/>
          <p:nvPr/>
        </p:nvGrpSpPr>
        <p:grpSpPr>
          <a:xfrm>
            <a:off x="6448845" y="1734004"/>
            <a:ext cx="475488" cy="475488"/>
            <a:chOff x="5852160" y="1754925"/>
            <a:chExt cx="475488" cy="475488"/>
          </a:xfrm>
        </p:grpSpPr>
        <p:sp>
          <p:nvSpPr>
            <p:cNvPr id="8" name="Shape 5"/>
            <p:cNvSpPr/>
            <p:nvPr/>
          </p:nvSpPr>
          <p:spPr>
            <a:xfrm>
              <a:off x="5852160" y="1754925"/>
              <a:ext cx="475488" cy="475488"/>
            </a:xfrm>
            <a:prstGeom prst="ellipse">
              <a:avLst/>
            </a:prstGeom>
            <a:solidFill>
              <a:srgbClr val="00C2CB"/>
            </a:solidFill>
            <a:ln w="12700">
              <a:solidFill>
                <a:srgbClr val="00C2CB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5852160" y="1754925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Rᵧ</a:t>
              </a:r>
              <a:endParaRPr lang="en-US" sz="11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54F190-8102-064E-D834-DDC1A0FE203F}"/>
              </a:ext>
            </a:extLst>
          </p:cNvPr>
          <p:cNvGrpSpPr/>
          <p:nvPr/>
        </p:nvGrpSpPr>
        <p:grpSpPr>
          <a:xfrm>
            <a:off x="6448845" y="2458521"/>
            <a:ext cx="475488" cy="475488"/>
            <a:chOff x="5852160" y="2687613"/>
            <a:chExt cx="475488" cy="475488"/>
          </a:xfrm>
        </p:grpSpPr>
        <p:sp>
          <p:nvSpPr>
            <p:cNvPr id="12" name="Shape 9"/>
            <p:cNvSpPr/>
            <p:nvPr/>
          </p:nvSpPr>
          <p:spPr>
            <a:xfrm>
              <a:off x="5852160" y="2687613"/>
              <a:ext cx="475488" cy="475488"/>
            </a:xfrm>
            <a:prstGeom prst="ellipse">
              <a:avLst/>
            </a:prstGeom>
            <a:solidFill>
              <a:srgbClr val="A78BFA"/>
            </a:solidFill>
            <a:ln w="12700">
              <a:solidFill>
                <a:srgbClr val="A78BFA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5852160" y="2687613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CX</a:t>
              </a:r>
              <a:endParaRPr lang="en-US" sz="11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B46DF-FAFD-198A-327F-DA1C67E3BC95}"/>
              </a:ext>
            </a:extLst>
          </p:cNvPr>
          <p:cNvGrpSpPr/>
          <p:nvPr/>
        </p:nvGrpSpPr>
        <p:grpSpPr>
          <a:xfrm>
            <a:off x="6448845" y="3203366"/>
            <a:ext cx="475488" cy="475488"/>
            <a:chOff x="6448845" y="4348720"/>
            <a:chExt cx="475488" cy="475488"/>
          </a:xfrm>
        </p:grpSpPr>
        <p:sp>
          <p:nvSpPr>
            <p:cNvPr id="16" name="Shape 13"/>
            <p:cNvSpPr/>
            <p:nvPr/>
          </p:nvSpPr>
          <p:spPr>
            <a:xfrm>
              <a:off x="6448845" y="4348720"/>
              <a:ext cx="475488" cy="475488"/>
            </a:xfrm>
            <a:prstGeom prst="ellipse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6448845" y="4348720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</a:t>
              </a:r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1515A9-B326-6183-A8D7-AF2BD0E50638}"/>
              </a:ext>
            </a:extLst>
          </p:cNvPr>
          <p:cNvGrpSpPr/>
          <p:nvPr/>
        </p:nvGrpSpPr>
        <p:grpSpPr>
          <a:xfrm>
            <a:off x="6981988" y="831380"/>
            <a:ext cx="1968284" cy="3000133"/>
            <a:chOff x="6446520" y="831381"/>
            <a:chExt cx="2423160" cy="2468666"/>
          </a:xfrm>
        </p:grpSpPr>
        <p:sp>
          <p:nvSpPr>
            <p:cNvPr id="6" name="Text 3"/>
            <p:cNvSpPr/>
            <p:nvPr/>
          </p:nvSpPr>
          <p:spPr>
            <a:xfrm>
              <a:off x="6446520" y="831381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Hadamard Init</a:t>
              </a:r>
              <a:endParaRPr lang="en-US" sz="13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446520" y="1078269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 in equal superposition |+⟩^N</a:t>
              </a:r>
              <a:endParaRPr lang="en-US" sz="11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446520" y="1503465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RY Rotations</a:t>
              </a:r>
              <a:endParaRPr lang="en-US" sz="13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446520" y="1733833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N·L variational params θ ∈ (−π, π)</a:t>
              </a:r>
              <a:endParaRPr lang="en-US" sz="11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446520" y="2152690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CNOT Chain</a:t>
              </a:r>
              <a:endParaRPr lang="en-US" sz="13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446520" y="2344194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(N−1)·(L−1) entangling gates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446520" y="2760551"/>
              <a:ext cx="2423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Measurement</a:t>
              </a:r>
              <a:endParaRPr lang="en-US" sz="13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446520" y="3007439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 shots → bitstring → (p,q) candidate</a:t>
              </a:r>
              <a:endParaRPr lang="en-US" sz="1100" dirty="0"/>
            </a:p>
          </p:txBody>
        </p:sp>
      </p:grpSp>
      <p:sp>
        <p:nvSpPr>
          <p:cNvPr id="20" name="Shape 17"/>
          <p:cNvSpPr/>
          <p:nvPr/>
        </p:nvSpPr>
        <p:spPr>
          <a:xfrm>
            <a:off x="320040" y="4087217"/>
            <a:ext cx="8503920" cy="667663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8"/>
              <p:cNvSpPr/>
              <p:nvPr/>
            </p:nvSpPr>
            <p:spPr>
              <a:xfrm>
                <a:off x="320040" y="4087217"/>
                <a:ext cx="8366760" cy="66766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200" b="0" i="1" smtClean="0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− 1) +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smtClean="0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smtClean="0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i="1" smtClean="0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− 1) free qubits |  p ≤ √n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1200" b="0" i="1" smtClean="0">
                            <a:solidFill>
                              <a:srgbClr val="00C2CB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C2C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= ⌈log₂(√n)⌉ | p ≤ q</a:t>
                </a:r>
                <a:endParaRPr lang="en-US" sz="1200" dirty="0"/>
              </a:p>
            </p:txBody>
          </p:sp>
        </mc:Choice>
        <mc:Fallback>
          <p:sp>
            <p:nvSpPr>
              <p:cNvPr id="21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4087217"/>
                <a:ext cx="8366760" cy="667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23652E5-7F09-8498-50B7-484A21EFE692}"/>
              </a:ext>
            </a:extLst>
          </p:cNvPr>
          <p:cNvSpPr txBox="1"/>
          <p:nvPr/>
        </p:nvSpPr>
        <p:spPr>
          <a:xfrm>
            <a:off x="320040" y="3605863"/>
            <a:ext cx="2429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FIG. 2. Linear-CNOT Ansatz for L = 3.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3759"/>
            <a:ext cx="37428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CVaR Energy Landscape 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78AC2B7-B5A2-391A-BA90-D0291E8E795D}"/>
              </a:ext>
            </a:extLst>
          </p:cNvPr>
          <p:cNvGrpSpPr/>
          <p:nvPr/>
        </p:nvGrpSpPr>
        <p:grpSpPr>
          <a:xfrm>
            <a:off x="348536" y="4000242"/>
            <a:ext cx="4905773" cy="393191"/>
            <a:chOff x="4096202" y="2836190"/>
            <a:chExt cx="4905773" cy="393191"/>
          </a:xfrm>
        </p:grpSpPr>
        <p:sp>
          <p:nvSpPr>
            <p:cNvPr id="6" name="Shape 1"/>
            <p:cNvSpPr/>
            <p:nvPr/>
          </p:nvSpPr>
          <p:spPr>
            <a:xfrm>
              <a:off x="4096202" y="2898273"/>
              <a:ext cx="236164" cy="227637"/>
            </a:xfrm>
            <a:prstGeom prst="ellipse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7" name="Text 2"/>
            <p:cNvSpPr/>
            <p:nvPr/>
          </p:nvSpPr>
          <p:spPr>
            <a:xfrm>
              <a:off x="4439713" y="2836190"/>
              <a:ext cx="4562262" cy="3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Extremely rugged surface — hallmark of barren plateau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B3244C-EB81-5E62-8E0C-349E781F0CA0}"/>
              </a:ext>
            </a:extLst>
          </p:cNvPr>
          <p:cNvGrpSpPr/>
          <p:nvPr/>
        </p:nvGrpSpPr>
        <p:grpSpPr>
          <a:xfrm>
            <a:off x="348536" y="4385200"/>
            <a:ext cx="4905773" cy="393191"/>
            <a:chOff x="4096202" y="3301811"/>
            <a:chExt cx="4905773" cy="393191"/>
          </a:xfrm>
        </p:grpSpPr>
        <p:sp>
          <p:nvSpPr>
            <p:cNvPr id="8" name="Shape 3"/>
            <p:cNvSpPr/>
            <p:nvPr/>
          </p:nvSpPr>
          <p:spPr>
            <a:xfrm>
              <a:off x="4096202" y="3363893"/>
              <a:ext cx="236164" cy="227637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9" name="Text 4"/>
            <p:cNvSpPr/>
            <p:nvPr/>
          </p:nvSpPr>
          <p:spPr>
            <a:xfrm>
              <a:off x="4439713" y="3301811"/>
              <a:ext cx="4562262" cy="3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Low-cost basins are tiny, isolated — no smooth funnel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08AB34-BDC9-6854-0E8D-5751C40B4FAA}"/>
              </a:ext>
            </a:extLst>
          </p:cNvPr>
          <p:cNvGrpSpPr/>
          <p:nvPr/>
        </p:nvGrpSpPr>
        <p:grpSpPr>
          <a:xfrm>
            <a:off x="336993" y="4750309"/>
            <a:ext cx="4905773" cy="393191"/>
            <a:chOff x="4096202" y="3767431"/>
            <a:chExt cx="4905773" cy="393191"/>
          </a:xfrm>
        </p:grpSpPr>
        <p:sp>
          <p:nvSpPr>
            <p:cNvPr id="10" name="Shape 5"/>
            <p:cNvSpPr/>
            <p:nvPr/>
          </p:nvSpPr>
          <p:spPr>
            <a:xfrm>
              <a:off x="4096202" y="3829514"/>
              <a:ext cx="236164" cy="227637"/>
            </a:xfrm>
            <a:prstGeom prst="ellipse">
              <a:avLst/>
            </a:prstGeom>
            <a:solidFill>
              <a:srgbClr val="00C2CB"/>
            </a:solidFill>
            <a:ln w="12700">
              <a:solidFill>
                <a:srgbClr val="00C2CB"/>
              </a:solidFill>
              <a:prstDash val="solid"/>
            </a:ln>
          </p:spPr>
        </p:sp>
        <p:sp>
          <p:nvSpPr>
            <p:cNvPr id="11" name="Text 6"/>
            <p:cNvSpPr/>
            <p:nvPr/>
          </p:nvSpPr>
          <p:spPr>
            <a:xfrm>
              <a:off x="4439713" y="3767431"/>
              <a:ext cx="4562262" cy="3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1D slices oscillate 10–15× within a fraction of a radian</a:t>
              </a:r>
              <a:endParaRPr lang="en-US" sz="12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3BC1A0B-1CD5-F902-29E5-98C37E917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67299" y="166821"/>
            <a:ext cx="3064876" cy="23478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DA4684-EF2E-649A-4BB9-A9DE4E254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98" y="2663303"/>
            <a:ext cx="3064877" cy="2313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2E126E-FE04-6DEE-EBCF-CA34D4F0E3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565" t="7098" r="11448" b="10888"/>
          <a:stretch>
            <a:fillRect/>
          </a:stretch>
        </p:blipFill>
        <p:spPr>
          <a:xfrm>
            <a:off x="336994" y="707830"/>
            <a:ext cx="3863048" cy="32007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54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Rate vs Problem Size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69618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COBYLA Optimizer</a:t>
            </a:r>
            <a:endParaRPr lang="en-US" sz="1400" dirty="0">
              <a:solidFill>
                <a:srgbClr val="22C55E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7082"/>
            <a:ext cx="42062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69618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NFT Optimizer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007082"/>
            <a:ext cx="4206240" cy="283464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173917-1F94-58E5-2967-FE143B732E98}"/>
              </a:ext>
            </a:extLst>
          </p:cNvPr>
          <p:cNvGrpSpPr/>
          <p:nvPr/>
        </p:nvGrpSpPr>
        <p:grpSpPr>
          <a:xfrm>
            <a:off x="228600" y="4115574"/>
            <a:ext cx="4206240" cy="868680"/>
            <a:chOff x="228600" y="4069080"/>
            <a:chExt cx="4206240" cy="868680"/>
          </a:xfrm>
        </p:grpSpPr>
        <p:sp>
          <p:nvSpPr>
            <p:cNvPr id="7" name="Shape 3"/>
            <p:cNvSpPr/>
            <p:nvPr/>
          </p:nvSpPr>
          <p:spPr>
            <a:xfrm>
              <a:off x="228600" y="4069080"/>
              <a:ext cx="4206240" cy="86868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00C2CB"/>
              </a:solidFill>
              <a:prstDash val="solid"/>
            </a:ln>
          </p:spPr>
        </p:sp>
        <p:sp>
          <p:nvSpPr>
            <p:cNvPr id="8" name="Text 4"/>
            <p:cNvSpPr/>
            <p:nvPr/>
          </p:nvSpPr>
          <p:spPr>
            <a:xfrm>
              <a:off x="365760" y="4133088"/>
              <a:ext cx="4069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00C2C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100% success for N ≤ 10 qubits with both optimizers.  </a:t>
              </a:r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NFT clearly outperforms COBYLA at N ≥ 13. </a:t>
              </a:r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FF50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Anomaly: Both optimizers’ performance dip at N = 14.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1A57E1-87CE-D63B-106E-DF98B85B7ACF}"/>
              </a:ext>
            </a:extLst>
          </p:cNvPr>
          <p:cNvGrpSpPr/>
          <p:nvPr/>
        </p:nvGrpSpPr>
        <p:grpSpPr>
          <a:xfrm>
            <a:off x="4627554" y="4128492"/>
            <a:ext cx="4206240" cy="868680"/>
            <a:chOff x="4627554" y="4081998"/>
            <a:chExt cx="4206240" cy="868680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34A6ADD4-5FC3-C360-1BFB-A9C2FB9C5855}"/>
                </a:ext>
              </a:extLst>
            </p:cNvPr>
            <p:cNvSpPr/>
            <p:nvPr/>
          </p:nvSpPr>
          <p:spPr>
            <a:xfrm>
              <a:off x="4627554" y="4081998"/>
              <a:ext cx="4206240" cy="86868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00C2CB"/>
              </a:solidFill>
              <a:prstDash val="solid"/>
            </a:ln>
          </p:spPr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D57C75E7-4A7E-1090-3067-406679C2DC42}"/>
                </a:ext>
              </a:extLst>
            </p:cNvPr>
            <p:cNvSpPr/>
            <p:nvPr/>
          </p:nvSpPr>
          <p:spPr>
            <a:xfrm>
              <a:off x="4764714" y="4146006"/>
              <a:ext cx="4069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α = 0.01 dominates α = 0.1 throughout.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FFFF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 = 4 has better success rate compared to L = 3 in both cases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2042E30-3D15-949B-F384-336B0756D6AE}"/>
              </a:ext>
            </a:extLst>
          </p:cNvPr>
          <p:cNvSpPr txBox="1"/>
          <p:nvPr/>
        </p:nvSpPr>
        <p:spPr>
          <a:xfrm>
            <a:off x="2752499" y="3810943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FIG. 3. Success rate for largest numbers n requiring N qubits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42" y="1783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Function Convergence  (n=511,  10k shots)</a:t>
            </a:r>
            <a:endParaRPr lang="en-US" sz="20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942" y="940166"/>
            <a:ext cx="8008257" cy="266792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36F0AD0-4E85-372E-C4D2-3DA1D8B40913}"/>
              </a:ext>
            </a:extLst>
          </p:cNvPr>
          <p:cNvGrpSpPr/>
          <p:nvPr/>
        </p:nvGrpSpPr>
        <p:grpSpPr>
          <a:xfrm>
            <a:off x="228599" y="3793636"/>
            <a:ext cx="2816818" cy="1170432"/>
            <a:chOff x="228599" y="3793636"/>
            <a:chExt cx="2816818" cy="1170432"/>
          </a:xfrm>
        </p:grpSpPr>
        <p:sp>
          <p:nvSpPr>
            <p:cNvPr id="4" name="Shape 1"/>
            <p:cNvSpPr/>
            <p:nvPr/>
          </p:nvSpPr>
          <p:spPr>
            <a:xfrm>
              <a:off x="228599" y="3793636"/>
              <a:ext cx="2816818" cy="1170432"/>
            </a:xfrm>
            <a:prstGeom prst="rect">
              <a:avLst/>
            </a:prstGeom>
            <a:solidFill>
              <a:srgbClr val="1F3A5F"/>
            </a:solidFill>
            <a:ln w="25400">
              <a:solidFill>
                <a:srgbClr val="1F77B4"/>
              </a:solidFill>
              <a:prstDash val="solid"/>
            </a:ln>
          </p:spPr>
        </p:sp>
        <p:sp>
          <p:nvSpPr>
            <p:cNvPr id="5" name="Text 2"/>
            <p:cNvSpPr/>
            <p:nvPr/>
          </p:nvSpPr>
          <p:spPr>
            <a:xfrm>
              <a:off x="323093" y="3819637"/>
              <a:ext cx="205482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F77B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Hamiltonian (n−pq)²</a:t>
              </a:r>
              <a:endParaRPr 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3"/>
                <p:cNvSpPr/>
                <p:nvPr/>
              </p:nvSpPr>
              <p:spPr>
                <a:xfrm>
                  <a:off x="317715" y="4075669"/>
                  <a:ext cx="2657960" cy="81749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E8F0F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Converges at iteration 17, but CVaR plateaus around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1150" b="0" i="1" smtClean="0">
                              <a:solidFill>
                                <a:srgbClr val="E8F0FE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n-IN" sz="1150" b="0" i="1" smtClean="0">
                              <a:solidFill>
                                <a:srgbClr val="E8F0FE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10</m:t>
                          </m:r>
                        </m:e>
                        <m:sup>
                          <m:r>
                            <a:rPr lang="en-IN" sz="1150" b="0" i="1" smtClean="0">
                              <a:solidFill>
                                <a:srgbClr val="E8F0FE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1</m:t>
                          </m:r>
                        </m:sup>
                      </m:sSup>
                    </m:oMath>
                  </a14:m>
                  <a:r>
                    <a:rPr lang="en-US" sz="1150" dirty="0">
                      <a:solidFill>
                        <a:srgbClr val="E8F0F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not 0.</a:t>
                  </a:r>
                  <a:endParaRPr lang="en-US" sz="1150" dirty="0"/>
                </a:p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E8F0F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Barren Plateau.</a:t>
                  </a:r>
                  <a:endParaRPr lang="en-US" sz="1150" dirty="0"/>
                </a:p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E8F0F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Need to Increase L or shots to break through.</a:t>
                  </a:r>
                  <a:endParaRPr lang="en-US" sz="1150" dirty="0"/>
                </a:p>
              </p:txBody>
            </p:sp>
          </mc:Choice>
          <mc:Fallback xmlns="">
            <p:sp>
              <p:nvSpPr>
                <p:cNvPr id="6" name="Text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715" y="4075669"/>
                  <a:ext cx="2657960" cy="817495"/>
                </a:xfrm>
                <a:prstGeom prst="rect">
                  <a:avLst/>
                </a:prstGeom>
                <a:blipFill>
                  <a:blip r:embed="rId4"/>
                  <a:stretch>
                    <a:fillRect l="-3440" t="-10448" r="-4128" b="-14179"/>
                  </a:stretch>
                </a:blipFill>
                <a:ln/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5EF63C-1135-2233-619C-69002B68786D}"/>
              </a:ext>
            </a:extLst>
          </p:cNvPr>
          <p:cNvGrpSpPr/>
          <p:nvPr/>
        </p:nvGrpSpPr>
        <p:grpSpPr>
          <a:xfrm>
            <a:off x="3169834" y="3794760"/>
            <a:ext cx="2796552" cy="1170432"/>
            <a:chOff x="3345541" y="3920417"/>
            <a:chExt cx="2971800" cy="1170432"/>
          </a:xfrm>
        </p:grpSpPr>
        <p:sp>
          <p:nvSpPr>
            <p:cNvPr id="7" name="Shape 4"/>
            <p:cNvSpPr/>
            <p:nvPr/>
          </p:nvSpPr>
          <p:spPr>
            <a:xfrm>
              <a:off x="3345541" y="3920417"/>
              <a:ext cx="2971800" cy="1170432"/>
            </a:xfrm>
            <a:prstGeom prst="rect">
              <a:avLst/>
            </a:prstGeom>
            <a:solidFill>
              <a:srgbClr val="1F3A5F"/>
            </a:solidFill>
            <a:ln w="25400">
              <a:solidFill>
                <a:srgbClr val="FF7F0E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3436982" y="3984425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7F0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Logarithm log(|n−pq|+1)</a:t>
              </a: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436982" y="4267889"/>
              <a:ext cx="278892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Finds solution at iter 15.</a:t>
              </a:r>
            </a:p>
            <a:p>
              <a:pPr marL="0" indent="0" algn="l">
                <a:buNone/>
              </a:pPr>
              <a:r>
                <a:rPr lang="en-US" sz="11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CVaR descends but remains noisy.</a:t>
              </a:r>
            </a:p>
            <a:p>
              <a:pPr marL="0" indent="0" algn="l">
                <a:buNone/>
              </a:pPr>
              <a:r>
                <a:rPr lang="en-US" sz="11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pairing with COBYLA with moderate shot counts.</a:t>
              </a:r>
              <a:endParaRPr lang="en-US" sz="115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24528C-33EC-D290-D6D4-00BF23797D38}"/>
              </a:ext>
            </a:extLst>
          </p:cNvPr>
          <p:cNvGrpSpPr/>
          <p:nvPr/>
        </p:nvGrpSpPr>
        <p:grpSpPr>
          <a:xfrm>
            <a:off x="6036128" y="3795799"/>
            <a:ext cx="2784780" cy="1170432"/>
            <a:chOff x="5943600" y="3419856"/>
            <a:chExt cx="2971800" cy="1170432"/>
          </a:xfrm>
        </p:grpSpPr>
        <p:sp>
          <p:nvSpPr>
            <p:cNvPr id="10" name="Shape 7"/>
            <p:cNvSpPr/>
            <p:nvPr/>
          </p:nvSpPr>
          <p:spPr>
            <a:xfrm>
              <a:off x="5943600" y="3419856"/>
              <a:ext cx="2971800" cy="1170432"/>
            </a:xfrm>
            <a:prstGeom prst="rect">
              <a:avLst/>
            </a:prstGeom>
            <a:solidFill>
              <a:srgbClr val="1F3A5F"/>
            </a:solidFill>
            <a:ln w="25400">
              <a:solidFill>
                <a:srgbClr val="2CA02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6035040" y="3483864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CA02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Inverse −1/(|n−pq|+ε)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035040" y="3767328"/>
              <a:ext cx="2788920" cy="7498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Reaches solution earliest at iter 9.</a:t>
              </a:r>
            </a:p>
            <a:p>
              <a:pPr marL="0" indent="0" algn="l">
                <a:buNone/>
              </a:pPr>
              <a:r>
                <a:rPr lang="en-US" sz="11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CVaR is most stable post-convergence.</a:t>
              </a:r>
              <a:endParaRPr lang="en-US" sz="1150" dirty="0"/>
            </a:p>
            <a:p>
              <a:pPr marL="0" indent="0" algn="l">
                <a:buNone/>
              </a:pPr>
              <a:r>
                <a:rPr lang="en-US" sz="11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Fastest with NFT optimizer.</a:t>
              </a:r>
              <a:endParaRPr lang="en-US" sz="115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2566904" y="542726"/>
            <a:ext cx="59880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1000 shots: solution found early but CVaR continues to bound  - inverse cost locks in fastest.</a:t>
            </a:r>
            <a:endParaRPr lang="en-US" sz="1100" i="1" dirty="0">
              <a:solidFill>
                <a:srgbClr val="55647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 Comparison: COBYLA vs NFT  (n = 511)</a:t>
            </a:r>
            <a:endParaRPr lang="en-US" sz="22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851" y="938353"/>
            <a:ext cx="8686800" cy="259748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C97AE51-2DFD-2C19-A1E2-FF958FFAE36A}"/>
              </a:ext>
            </a:extLst>
          </p:cNvPr>
          <p:cNvGrpSpPr/>
          <p:nvPr/>
        </p:nvGrpSpPr>
        <p:grpSpPr>
          <a:xfrm>
            <a:off x="274320" y="3804834"/>
            <a:ext cx="2743200" cy="1178646"/>
            <a:chOff x="274320" y="4114800"/>
            <a:chExt cx="2743200" cy="868680"/>
          </a:xfrm>
        </p:grpSpPr>
        <p:sp>
          <p:nvSpPr>
            <p:cNvPr id="4" name="Shape 1"/>
            <p:cNvSpPr/>
            <p:nvPr/>
          </p:nvSpPr>
          <p:spPr>
            <a:xfrm>
              <a:off x="274320" y="4114800"/>
              <a:ext cx="2743200" cy="86868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1F77B4"/>
              </a:solidFill>
              <a:prstDash val="solid"/>
            </a:ln>
          </p:spPr>
        </p:sp>
        <p:sp>
          <p:nvSpPr>
            <p:cNvPr id="5" name="Text 2"/>
            <p:cNvSpPr/>
            <p:nvPr/>
          </p:nvSpPr>
          <p:spPr>
            <a:xfrm>
              <a:off x="347472" y="4160520"/>
              <a:ext cx="25968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F77B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Hamiltonian</a:t>
              </a:r>
              <a:endParaRPr lang="en-US" sz="1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347472" y="4407408"/>
              <a:ext cx="2596896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COBYLA wins decisively here, reaching near-zero cost in under 50 iterations.</a:t>
              </a:r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NFT struggles remaining at a higher average cost floor even after 300 iterations. .</a:t>
              </a:r>
              <a:endParaRPr lang="en-US" sz="105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2CEE24-D280-A759-8D30-B82760922402}"/>
              </a:ext>
            </a:extLst>
          </p:cNvPr>
          <p:cNvGrpSpPr/>
          <p:nvPr/>
        </p:nvGrpSpPr>
        <p:grpSpPr>
          <a:xfrm>
            <a:off x="3255264" y="3806645"/>
            <a:ext cx="2743200" cy="1178646"/>
            <a:chOff x="3182112" y="4114800"/>
            <a:chExt cx="2743200" cy="868680"/>
          </a:xfrm>
        </p:grpSpPr>
        <p:sp>
          <p:nvSpPr>
            <p:cNvPr id="7" name="Shape 4"/>
            <p:cNvSpPr/>
            <p:nvPr/>
          </p:nvSpPr>
          <p:spPr>
            <a:xfrm>
              <a:off x="3182112" y="4114800"/>
              <a:ext cx="2743200" cy="86868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FF7F0E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3255264" y="4160520"/>
              <a:ext cx="25968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7F0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Logarithm</a:t>
              </a: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255264" y="4407408"/>
              <a:ext cx="2596896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Both algorithms reach the bottom, but NFT takes much longer to "settle," with massive cost spikes occurring as late as iteration 250.</a:t>
              </a:r>
              <a:endParaRPr lang="en-US" sz="105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932B04-176C-20EE-BEA6-CD7ACF64E219}"/>
              </a:ext>
            </a:extLst>
          </p:cNvPr>
          <p:cNvGrpSpPr/>
          <p:nvPr/>
        </p:nvGrpSpPr>
        <p:grpSpPr>
          <a:xfrm>
            <a:off x="6172200" y="3804834"/>
            <a:ext cx="2743200" cy="1178646"/>
            <a:chOff x="6089904" y="4114800"/>
            <a:chExt cx="2743200" cy="868680"/>
          </a:xfrm>
        </p:grpSpPr>
        <p:sp>
          <p:nvSpPr>
            <p:cNvPr id="10" name="Shape 7"/>
            <p:cNvSpPr/>
            <p:nvPr/>
          </p:nvSpPr>
          <p:spPr>
            <a:xfrm>
              <a:off x="6089904" y="4114800"/>
              <a:ext cx="2743200" cy="868680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2CA02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6163056" y="4160520"/>
              <a:ext cx="25968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CA02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Inverse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163056" y="4407408"/>
              <a:ext cx="2596896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Both algorithms drop to the minimum.</a:t>
              </a:r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NFT still experiences significant spikes around iter 225, whereas COBYLA remains flat at the bottom.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Iterations to Fidelity Threshold  (n = 253)</a:t>
            </a:r>
            <a:endParaRPr lang="en-US" sz="26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47258"/>
            <a:ext cx="5669280" cy="349246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841248"/>
            <a:ext cx="283464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905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 + NFT wins long-term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72200" y="11704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+ Inverse (brown dashed) consistently reaches fidelity in ~10–15 iters across all shot counts, and improves as shots increase. Most reliable combination overall.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80760" y="1892808"/>
            <a:ext cx="2834640" cy="960120"/>
          </a:xfrm>
          <a:prstGeom prst="rect">
            <a:avLst/>
          </a:prstGeom>
          <a:solidFill>
            <a:srgbClr val="1F3A5F"/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984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7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COBYLA + Inverse stable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2200" y="2240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COBYLA, Inverse (green triangles) shows remarkable stability, maintaining a low iteration count ~15 regardless of the number of shots.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2944367"/>
            <a:ext cx="2834640" cy="1505003"/>
          </a:xfrm>
          <a:prstGeom prst="rect">
            <a:avLst/>
          </a:prstGeom>
          <a:solidFill>
            <a:srgbClr val="1F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3008375"/>
            <a:ext cx="2651760" cy="38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NFT + Hamiltonian improves majorly, but is inefficient at lower shots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0"/>
              <p:cNvSpPr/>
              <p:nvPr/>
            </p:nvSpPr>
            <p:spPr>
              <a:xfrm>
                <a:off x="6172200" y="3456122"/>
                <a:ext cx="2651760" cy="8689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E8F0F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NFT, Hamiltonian (solid red) shows the most dramatic improvement, dropping from over 60 iterations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solidFill>
                              <a:srgbClr val="E8F0F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IN" sz="1050" b="0" i="1" smtClean="0">
                            <a:solidFill>
                              <a:srgbClr val="E8F0F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10</m:t>
                        </m:r>
                      </m:e>
                      <m:sup>
                        <m:r>
                          <a:rPr lang="en-IN" sz="1050" b="0" i="1" smtClean="0">
                            <a:solidFill>
                              <a:srgbClr val="E8F0F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050" dirty="0">
                    <a:solidFill>
                      <a:srgbClr val="E8F0F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shots to 30 iters 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solidFill>
                              <a:srgbClr val="E8F0F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IN" sz="1050" b="0" i="1" smtClean="0">
                            <a:solidFill>
                              <a:srgbClr val="E8F0F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10</m:t>
                        </m:r>
                      </m:e>
                      <m:sup>
                        <m:r>
                          <a:rPr lang="en-IN" sz="1050" b="0" i="1" smtClean="0">
                            <a:solidFill>
                              <a:srgbClr val="E8F0FE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050" dirty="0">
                    <a:solidFill>
                      <a:srgbClr val="E8F0F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shots.</a:t>
                </a:r>
              </a:p>
              <a:p>
                <a:pPr marL="0" indent="0" algn="l">
                  <a:buNone/>
                </a:pPr>
                <a:r>
                  <a:rPr lang="en-US" sz="1050" dirty="0">
                    <a:solidFill>
                      <a:srgbClr val="E8F0F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But at lower shots, it takes significantly higher iters to converge.</a:t>
                </a:r>
                <a:endParaRPr lang="en-US" sz="1050" dirty="0"/>
              </a:p>
            </p:txBody>
          </p:sp>
        </mc:Choice>
        <mc:Fallback>
          <p:sp>
            <p:nvSpPr>
              <p:cNvPr id="13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456122"/>
                <a:ext cx="2651760" cy="868990"/>
              </a:xfrm>
              <a:prstGeom prst="rect">
                <a:avLst/>
              </a:prstGeom>
              <a:blipFill>
                <a:blip r:embed="rId4"/>
                <a:stretch>
                  <a:fillRect l="-3218" t="-4895" r="-230" b="-139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1"/>
          <p:cNvSpPr/>
          <p:nvPr/>
        </p:nvSpPr>
        <p:spPr>
          <a:xfrm>
            <a:off x="6080760" y="4539724"/>
            <a:ext cx="2834640" cy="416323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4609661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max_iter ceiling (dotted line = 80)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72200" y="4325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60709-50A6-66A0-7CB5-920579D9F598}"/>
              </a:ext>
            </a:extLst>
          </p:cNvPr>
          <p:cNvSpPr txBox="1"/>
          <p:nvPr/>
        </p:nvSpPr>
        <p:spPr>
          <a:xfrm>
            <a:off x="169164" y="4597198"/>
            <a:ext cx="585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dirty="0">
                <a:solidFill>
                  <a:schemeClr val="bg1"/>
                </a:solidFill>
              </a:rPr>
              <a:t>FIG. 10. Number of iterations required to reach the ﬁdelity threshold for the successful runs, with various types of cost functions and using COBYLA or NFT optimizers.</a:t>
            </a:r>
          </a:p>
        </p:txBody>
      </p:sp>
    </p:spTree>
    <p:extLst>
      <p:ext uri="{BB962C8B-B14F-4D97-AF65-F5344CB8AC3E}">
        <p14:creationId xmlns:p14="http://schemas.microsoft.com/office/powerpoint/2010/main" val="262564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Results – IBM fez vs Simulator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253  (11×23)  ·  N = 10 qubits  ·  ibm_fez  ·  shots = 2000</a:t>
            </a:r>
            <a:endParaRPr lang="en-US" sz="13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60776"/>
            <a:ext cx="4343400" cy="239914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179A1E7-2891-4AA7-B5B2-87DE9FC4EBF9}"/>
              </a:ext>
            </a:extLst>
          </p:cNvPr>
          <p:cNvGrpSpPr/>
          <p:nvPr/>
        </p:nvGrpSpPr>
        <p:grpSpPr>
          <a:xfrm>
            <a:off x="228600" y="3988024"/>
            <a:ext cx="3017520" cy="932688"/>
            <a:chOff x="5897880" y="896112"/>
            <a:chExt cx="3017520" cy="932688"/>
          </a:xfrm>
        </p:grpSpPr>
        <p:sp>
          <p:nvSpPr>
            <p:cNvPr id="6" name="Shape 3"/>
            <p:cNvSpPr/>
            <p:nvPr/>
          </p:nvSpPr>
          <p:spPr>
            <a:xfrm>
              <a:off x="5897880" y="896112"/>
              <a:ext cx="3017520" cy="932688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FF7F0E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989320" y="960120"/>
              <a:ext cx="28346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7F0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Simulator envelope (±1σ)</a:t>
              </a:r>
              <a:endParaRPr lang="en-US" sz="11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989320" y="1216152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Orange band shows run-to-run variance across multiple simulator trials. Wide band at early iters reflects sensitivity to random initial parameters.</a:t>
              </a:r>
              <a:endParaRPr lang="en-US" sz="10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74A00E7-FEB2-3326-F355-1E4F73B27945}"/>
              </a:ext>
            </a:extLst>
          </p:cNvPr>
          <p:cNvGrpSpPr/>
          <p:nvPr/>
        </p:nvGrpSpPr>
        <p:grpSpPr>
          <a:xfrm>
            <a:off x="3396087" y="3988024"/>
            <a:ext cx="3017520" cy="932688"/>
            <a:chOff x="5897880" y="1920240"/>
            <a:chExt cx="3017520" cy="932688"/>
          </a:xfrm>
        </p:grpSpPr>
        <p:sp>
          <p:nvSpPr>
            <p:cNvPr id="9" name="Shape 6"/>
            <p:cNvSpPr/>
            <p:nvPr/>
          </p:nvSpPr>
          <p:spPr>
            <a:xfrm>
              <a:off x="5897880" y="1920240"/>
              <a:ext cx="3017520" cy="932688"/>
            </a:xfrm>
            <a:prstGeom prst="rect">
              <a:avLst/>
            </a:prstGeom>
            <a:solidFill>
              <a:srgbClr val="1F3A5F"/>
            </a:solidFill>
            <a:ln w="19050">
              <a:solidFill>
                <a:srgbClr val="1F77B4"/>
              </a:solidFill>
              <a:prstDash val="solid"/>
            </a:ln>
          </p:spPr>
        </p:sp>
        <p:sp>
          <p:nvSpPr>
            <p:cNvPr id="10" name="Text 7"/>
            <p:cNvSpPr/>
            <p:nvPr/>
          </p:nvSpPr>
          <p:spPr>
            <a:xfrm>
              <a:off x="5989320" y="1984248"/>
              <a:ext cx="28346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F77B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Hardware trials (blue dots)</a:t>
              </a:r>
              <a:endParaRPr lang="en-US" sz="11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989320" y="2240280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3 IBM ibm_fez trials found the solution (11×23). Final CVaR values land within the simulator ±1σ band — hardware noise is not catastrophic.</a:t>
              </a:r>
              <a:endParaRPr lang="en-US" sz="1050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42C591B-067D-DA18-F197-FE7068B17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204" y="860776"/>
            <a:ext cx="3757341" cy="2396673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5A6A7247-2900-2FBF-2F56-42E9A0CC870A}"/>
              </a:ext>
            </a:extLst>
          </p:cNvPr>
          <p:cNvGrpSpPr/>
          <p:nvPr/>
        </p:nvGrpSpPr>
        <p:grpSpPr>
          <a:xfrm>
            <a:off x="6534409" y="3837377"/>
            <a:ext cx="2609589" cy="372288"/>
            <a:chOff x="5670842" y="3495624"/>
            <a:chExt cx="3244558" cy="372288"/>
          </a:xfrm>
        </p:grpSpPr>
        <p:sp>
          <p:nvSpPr>
            <p:cNvPr id="36" name="Text 33"/>
            <p:cNvSpPr/>
            <p:nvPr/>
          </p:nvSpPr>
          <p:spPr>
            <a:xfrm>
              <a:off x="5670842" y="3495624"/>
              <a:ext cx="22860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0C2C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▲</a:t>
              </a:r>
              <a:endParaRPr lang="en-US" sz="13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5943600" y="3520440"/>
              <a:ext cx="2971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Noise gap at N=7. </a:t>
              </a:r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Gate error accumulates with circuit depth.</a:t>
              </a:r>
              <a:endParaRPr lang="en-US" sz="10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E407C4-9B75-6605-2A67-93B91F62D3F5}"/>
              </a:ext>
            </a:extLst>
          </p:cNvPr>
          <p:cNvGrpSpPr/>
          <p:nvPr/>
        </p:nvGrpSpPr>
        <p:grpSpPr>
          <a:xfrm>
            <a:off x="4791466" y="3232028"/>
            <a:ext cx="4032859" cy="617899"/>
            <a:chOff x="4673919" y="3242918"/>
            <a:chExt cx="5902939" cy="617899"/>
          </a:xfrm>
        </p:grpSpPr>
        <p:sp>
          <p:nvSpPr>
            <p:cNvPr id="40" name="Text 37"/>
            <p:cNvSpPr/>
            <p:nvPr/>
          </p:nvSpPr>
          <p:spPr>
            <a:xfrm>
              <a:off x="4673919" y="3242918"/>
              <a:ext cx="361731" cy="569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▼</a:t>
              </a:r>
              <a:endParaRPr lang="en-US" sz="13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5077198" y="3242925"/>
              <a:ext cx="5499660" cy="617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n=253 drops to 67% on hardware.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8C6758-D34F-E277-1FCD-B333C66D221D}"/>
              </a:ext>
            </a:extLst>
          </p:cNvPr>
          <p:cNvGrpSpPr/>
          <p:nvPr/>
        </p:nvGrpSpPr>
        <p:grpSpPr>
          <a:xfrm>
            <a:off x="6563574" y="4280823"/>
            <a:ext cx="2466126" cy="742108"/>
            <a:chOff x="5669280" y="4649154"/>
            <a:chExt cx="3552884" cy="417325"/>
          </a:xfrm>
        </p:grpSpPr>
        <p:sp>
          <p:nvSpPr>
            <p:cNvPr id="42" name="Text 39"/>
            <p:cNvSpPr/>
            <p:nvPr/>
          </p:nvSpPr>
          <p:spPr>
            <a:xfrm>
              <a:off x="5669280" y="4649154"/>
              <a:ext cx="252197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0C2C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★</a:t>
              </a:r>
              <a:endParaRPr lang="en-US" sz="13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5943600" y="4719007"/>
              <a:ext cx="327856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Hardware result confirms the paper's core claim: VQE factorization is viable on real NISQ devices up to n=253.</a:t>
              </a:r>
              <a:endParaRPr lang="en-US" sz="105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5C794EF-7966-F1B4-F0D2-0FBE6F155178}"/>
              </a:ext>
            </a:extLst>
          </p:cNvPr>
          <p:cNvSpPr txBox="1"/>
          <p:nvPr/>
        </p:nvSpPr>
        <p:spPr>
          <a:xfrm>
            <a:off x="5145437" y="1161288"/>
            <a:ext cx="418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170F30-91BC-7078-22CF-A6BBD2D6F31F}"/>
              </a:ext>
            </a:extLst>
          </p:cNvPr>
          <p:cNvSpPr txBox="1"/>
          <p:nvPr/>
        </p:nvSpPr>
        <p:spPr>
          <a:xfrm>
            <a:off x="5645629" y="1202836"/>
            <a:ext cx="418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10C8AC-F67C-AF6F-A87C-266BF54BA688}"/>
              </a:ext>
            </a:extLst>
          </p:cNvPr>
          <p:cNvSpPr txBox="1"/>
          <p:nvPr/>
        </p:nvSpPr>
        <p:spPr>
          <a:xfrm>
            <a:off x="6652413" y="1482420"/>
            <a:ext cx="418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57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FEFD7E-F0D9-C59C-F64A-0B49993CC3ED}"/>
              </a:ext>
            </a:extLst>
          </p:cNvPr>
          <p:cNvSpPr txBox="1"/>
          <p:nvPr/>
        </p:nvSpPr>
        <p:spPr>
          <a:xfrm>
            <a:off x="7157634" y="1182883"/>
            <a:ext cx="418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123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4E33BC-69D6-C0DD-2607-094D64241CA2}"/>
              </a:ext>
            </a:extLst>
          </p:cNvPr>
          <p:cNvSpPr txBox="1"/>
          <p:nvPr/>
        </p:nvSpPr>
        <p:spPr>
          <a:xfrm>
            <a:off x="8130104" y="1729613"/>
            <a:ext cx="418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253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271C64-2A0A-AA5D-4255-819211A6C467}"/>
              </a:ext>
            </a:extLst>
          </p:cNvPr>
          <p:cNvSpPr txBox="1"/>
          <p:nvPr/>
        </p:nvSpPr>
        <p:spPr>
          <a:xfrm>
            <a:off x="228600" y="3368652"/>
            <a:ext cx="4575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FIG. 5. Hardware run for n = 253, three layers, α = 0.25, 2000 shots requiring ten qubits. </a:t>
            </a:r>
          </a:p>
        </p:txBody>
      </p:sp>
    </p:spTree>
    <p:extLst>
      <p:ext uri="{BB962C8B-B14F-4D97-AF65-F5344CB8AC3E}">
        <p14:creationId xmlns:p14="http://schemas.microsoft.com/office/powerpoint/2010/main" val="220644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8912" y="1252728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52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0.01 outperforms α = 0.1 even with finite shots — contrary to naive intuition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181965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0DFA5B-5588-F811-C938-5D71FF01FDDE}"/>
              </a:ext>
            </a:extLst>
          </p:cNvPr>
          <p:cNvGrpSpPr/>
          <p:nvPr/>
        </p:nvGrpSpPr>
        <p:grpSpPr>
          <a:xfrm>
            <a:off x="438912" y="1755648"/>
            <a:ext cx="4078224" cy="502920"/>
            <a:chOff x="438912" y="1755648"/>
            <a:chExt cx="4078224" cy="502920"/>
          </a:xfrm>
        </p:grpSpPr>
        <p:sp>
          <p:nvSpPr>
            <p:cNvPr id="9" name="Text 7"/>
            <p:cNvSpPr/>
            <p:nvPr/>
          </p:nvSpPr>
          <p:spPr>
            <a:xfrm>
              <a:off x="438912" y="1819656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8096" y="1755648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NFT beats COBYLA at N ≥ 13 and with inverse cost function</a:t>
              </a:r>
              <a:endParaRPr lang="en-US" sz="12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438912" y="2905777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51B055D-AA02-3AC2-594D-F6407F5DEC9B}"/>
              </a:ext>
            </a:extLst>
          </p:cNvPr>
          <p:cNvGrpSpPr/>
          <p:nvPr/>
        </p:nvGrpSpPr>
        <p:grpSpPr>
          <a:xfrm>
            <a:off x="438912" y="2841769"/>
            <a:ext cx="4078224" cy="502920"/>
            <a:chOff x="438912" y="2322576"/>
            <a:chExt cx="4078224" cy="502920"/>
          </a:xfrm>
        </p:grpSpPr>
        <p:sp>
          <p:nvSpPr>
            <p:cNvPr id="12" name="Text 10"/>
            <p:cNvSpPr/>
            <p:nvPr/>
          </p:nvSpPr>
          <p:spPr>
            <a:xfrm>
              <a:off x="438912" y="2386584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68096" y="2322576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10k shots creates a phase transition: chaotic → convergent optimization</a:t>
              </a:r>
              <a:endParaRPr lang="en-US" sz="12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38912" y="3472705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1A29C5-1D02-FD5D-F78E-95A601072B35}"/>
              </a:ext>
            </a:extLst>
          </p:cNvPr>
          <p:cNvGrpSpPr/>
          <p:nvPr/>
        </p:nvGrpSpPr>
        <p:grpSpPr>
          <a:xfrm>
            <a:off x="438912" y="3408697"/>
            <a:ext cx="4078224" cy="502920"/>
            <a:chOff x="438912" y="2889504"/>
            <a:chExt cx="4078224" cy="502920"/>
          </a:xfrm>
        </p:grpSpPr>
        <p:sp>
          <p:nvSpPr>
            <p:cNvPr id="15" name="Text 13"/>
            <p:cNvSpPr/>
            <p:nvPr/>
          </p:nvSpPr>
          <p:spPr>
            <a:xfrm>
              <a:off x="438912" y="2953512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68096" y="2889504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Hamiltonian cost plateaus at ~15 (barren plateau, not shot noise)</a:t>
              </a:r>
              <a:endParaRPr lang="en-US" sz="1200" dirty="0"/>
            </a:p>
          </p:txBody>
        </p:sp>
      </p:grpSp>
      <p:sp>
        <p:nvSpPr>
          <p:cNvPr id="17" name="Shape 15"/>
          <p:cNvSpPr/>
          <p:nvPr/>
        </p:nvSpPr>
        <p:spPr>
          <a:xfrm>
            <a:off x="438912" y="4039633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02ACFB8-7A6A-DC84-ABCC-45EAD3CF575C}"/>
              </a:ext>
            </a:extLst>
          </p:cNvPr>
          <p:cNvGrpSpPr/>
          <p:nvPr/>
        </p:nvGrpSpPr>
        <p:grpSpPr>
          <a:xfrm>
            <a:off x="438912" y="3955865"/>
            <a:ext cx="4078224" cy="502920"/>
            <a:chOff x="438912" y="3436672"/>
            <a:chExt cx="4078224" cy="502920"/>
          </a:xfrm>
        </p:grpSpPr>
        <p:sp>
          <p:nvSpPr>
            <p:cNvPr id="18" name="Text 16"/>
            <p:cNvSpPr/>
            <p:nvPr/>
          </p:nvSpPr>
          <p:spPr>
            <a:xfrm>
              <a:off x="438912" y="352044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68096" y="343667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Logarithm + COBYLA: best for moderate shot budgets</a:t>
              </a:r>
              <a:endParaRPr lang="en-US" sz="12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438912" y="4606561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5438B83-85EF-F70C-4425-C35F513B1799}"/>
              </a:ext>
            </a:extLst>
          </p:cNvPr>
          <p:cNvGrpSpPr/>
          <p:nvPr/>
        </p:nvGrpSpPr>
        <p:grpSpPr>
          <a:xfrm>
            <a:off x="438912" y="4492261"/>
            <a:ext cx="4078224" cy="502920"/>
            <a:chOff x="438912" y="3973068"/>
            <a:chExt cx="4078224" cy="502920"/>
          </a:xfrm>
        </p:grpSpPr>
        <p:sp>
          <p:nvSpPr>
            <p:cNvPr id="21" name="Text 19"/>
            <p:cNvSpPr/>
            <p:nvPr/>
          </p:nvSpPr>
          <p:spPr>
            <a:xfrm>
              <a:off x="438912" y="408736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68096" y="3973068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Inverse + NFT: fastest convergence at 10k+ shots</a:t>
              </a:r>
              <a:endParaRPr lang="en-US" sz="12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4892040" y="804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6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FA9006E-E086-B86F-56A9-43D2B2CBFC7F}"/>
              </a:ext>
            </a:extLst>
          </p:cNvPr>
          <p:cNvGrpSpPr/>
          <p:nvPr/>
        </p:nvGrpSpPr>
        <p:grpSpPr>
          <a:xfrm>
            <a:off x="438912" y="2252835"/>
            <a:ext cx="4078224" cy="502920"/>
            <a:chOff x="438912" y="2322576"/>
            <a:chExt cx="4078224" cy="502920"/>
          </a:xfrm>
        </p:grpSpPr>
        <p:sp>
          <p:nvSpPr>
            <p:cNvPr id="48" name="Text 10">
              <a:extLst>
                <a:ext uri="{FF2B5EF4-FFF2-40B4-BE49-F238E27FC236}">
                  <a16:creationId xmlns:a16="http://schemas.microsoft.com/office/drawing/2014/main" id="{1FFF5646-35F5-4503-FD31-A7A872D4127A}"/>
                </a:ext>
              </a:extLst>
            </p:cNvPr>
            <p:cNvSpPr/>
            <p:nvPr/>
          </p:nvSpPr>
          <p:spPr>
            <a:xfrm>
              <a:off x="438912" y="2386584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3CABE484-360D-DDD1-DCAF-1C625E41C4DC}"/>
                </a:ext>
              </a:extLst>
            </p:cNvPr>
            <p:cNvSpPr/>
            <p:nvPr/>
          </p:nvSpPr>
          <p:spPr>
            <a:xfrm>
              <a:off x="768096" y="2322576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E8F0F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CVaR effectively overcomes Barren Plateaus by focusing on low energy shots </a:t>
              </a:r>
              <a:endParaRPr lang="en-US" sz="1200" dirty="0"/>
            </a:p>
          </p:txBody>
        </p:sp>
      </p:grpSp>
      <p:sp>
        <p:nvSpPr>
          <p:cNvPr id="53" name="Shape 6">
            <a:extLst>
              <a:ext uri="{FF2B5EF4-FFF2-40B4-BE49-F238E27FC236}">
                <a16:creationId xmlns:a16="http://schemas.microsoft.com/office/drawing/2014/main" id="{BB09F499-9493-197E-43D4-9C9147A585F4}"/>
              </a:ext>
            </a:extLst>
          </p:cNvPr>
          <p:cNvSpPr/>
          <p:nvPr/>
        </p:nvSpPr>
        <p:spPr>
          <a:xfrm>
            <a:off x="456438" y="2353019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89D1FB69-DB85-3AF8-F1C3-8AD307DDC2AA}"/>
              </a:ext>
            </a:extLst>
          </p:cNvPr>
          <p:cNvSpPr/>
          <p:nvPr/>
        </p:nvSpPr>
        <p:spPr>
          <a:xfrm>
            <a:off x="457200" y="23641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8" name="Shape 17"/>
          <p:cNvSpPr/>
          <p:nvPr/>
        </p:nvSpPr>
        <p:spPr>
          <a:xfrm>
            <a:off x="4694144" y="1261872"/>
            <a:ext cx="2788920" cy="50292"/>
          </a:xfrm>
          <a:prstGeom prst="rect">
            <a:avLst/>
          </a:prstGeom>
          <a:solidFill>
            <a:srgbClr val="0D7FD6"/>
          </a:solidFill>
          <a:ln w="12700">
            <a:solidFill>
              <a:srgbClr val="0D7FD6"/>
            </a:solidFill>
            <a:prstDash val="solid"/>
          </a:ln>
        </p:spPr>
      </p:sp>
      <p:sp>
        <p:nvSpPr>
          <p:cNvPr id="99" name="Shape 21"/>
          <p:cNvSpPr/>
          <p:nvPr/>
        </p:nvSpPr>
        <p:spPr>
          <a:xfrm>
            <a:off x="4822160" y="1755648"/>
            <a:ext cx="2532888" cy="0"/>
          </a:xfrm>
          <a:prstGeom prst="line">
            <a:avLst/>
          </a:prstGeom>
          <a:noFill/>
          <a:ln w="9525">
            <a:solidFill>
              <a:srgbClr val="1E3A5C"/>
            </a:solidFill>
            <a:prstDash val="solid"/>
          </a:ln>
        </p:spPr>
      </p:sp>
      <p:sp>
        <p:nvSpPr>
          <p:cNvPr id="100" name="Shape 16"/>
          <p:cNvSpPr/>
          <p:nvPr/>
        </p:nvSpPr>
        <p:spPr>
          <a:xfrm>
            <a:off x="4694144" y="1261872"/>
            <a:ext cx="3850416" cy="735875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1" name="Shape 18"/>
          <p:cNvSpPr/>
          <p:nvPr/>
        </p:nvSpPr>
        <p:spPr>
          <a:xfrm>
            <a:off x="4817588" y="1387387"/>
            <a:ext cx="269875" cy="260599"/>
          </a:xfrm>
          <a:prstGeom prst="ellipse">
            <a:avLst/>
          </a:prstGeom>
          <a:solidFill>
            <a:srgbClr val="0D7FD6">
              <a:alpha val="75000"/>
            </a:srgbClr>
          </a:solidFill>
          <a:ln w="12700">
            <a:solidFill>
              <a:srgbClr val="0D7FD6"/>
            </a:solidFill>
            <a:prstDash val="solid"/>
          </a:ln>
        </p:spPr>
      </p:sp>
      <p:sp>
        <p:nvSpPr>
          <p:cNvPr id="102" name="Text 19"/>
          <p:cNvSpPr/>
          <p:nvPr/>
        </p:nvSpPr>
        <p:spPr>
          <a:xfrm>
            <a:off x="4858736" y="1424218"/>
            <a:ext cx="173567" cy="17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3" name="Text 20"/>
          <p:cNvSpPr/>
          <p:nvPr/>
        </p:nvSpPr>
        <p:spPr>
          <a:xfrm>
            <a:off x="5275931" y="1407053"/>
            <a:ext cx="3309269" cy="19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Initialization for Inverse Cost Functions</a:t>
            </a:r>
            <a:endParaRPr lang="en-US" sz="1100" dirty="0"/>
          </a:p>
        </p:txBody>
      </p:sp>
      <p:sp>
        <p:nvSpPr>
          <p:cNvPr id="104" name="Text 22"/>
          <p:cNvSpPr/>
          <p:nvPr/>
        </p:nvSpPr>
        <p:spPr>
          <a:xfrm>
            <a:off x="4822159" y="1695111"/>
            <a:ext cx="3615719" cy="32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identifies - finding good initial parameters for the inverse-type cost as an open problem. </a:t>
            </a:r>
            <a:endParaRPr lang="en-US" sz="920" dirty="0"/>
          </a:p>
        </p:txBody>
      </p:sp>
      <p:sp>
        <p:nvSpPr>
          <p:cNvPr id="105" name="Shape 23"/>
          <p:cNvSpPr/>
          <p:nvPr/>
        </p:nvSpPr>
        <p:spPr>
          <a:xfrm>
            <a:off x="4694144" y="3026681"/>
            <a:ext cx="3850416" cy="93831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6" name="Shape 24"/>
          <p:cNvSpPr/>
          <p:nvPr/>
        </p:nvSpPr>
        <p:spPr>
          <a:xfrm>
            <a:off x="4694144" y="3039380"/>
            <a:ext cx="3850416" cy="5711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7" name="Shape 25"/>
          <p:cNvSpPr/>
          <p:nvPr/>
        </p:nvSpPr>
        <p:spPr>
          <a:xfrm>
            <a:off x="4822160" y="3158252"/>
            <a:ext cx="292608" cy="292608"/>
          </a:xfrm>
          <a:prstGeom prst="ellipse">
            <a:avLst/>
          </a:prstGeom>
          <a:solidFill>
            <a:srgbClr val="00A896">
              <a:alpha val="7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8" name="Text 26"/>
          <p:cNvSpPr/>
          <p:nvPr/>
        </p:nvSpPr>
        <p:spPr>
          <a:xfrm>
            <a:off x="4822160" y="31582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9" name="Text 27"/>
          <p:cNvSpPr/>
          <p:nvPr/>
        </p:nvSpPr>
        <p:spPr>
          <a:xfrm>
            <a:off x="5360359" y="3158252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Convergence Speed of Inverse Cost</a:t>
            </a:r>
            <a:endParaRPr lang="en-US" sz="1100" dirty="0"/>
          </a:p>
        </p:txBody>
      </p:sp>
      <p:sp>
        <p:nvSpPr>
          <p:cNvPr id="110" name="Text 29"/>
          <p:cNvSpPr/>
          <p:nvPr/>
        </p:nvSpPr>
        <p:spPr>
          <a:xfrm>
            <a:off x="4822160" y="3477166"/>
            <a:ext cx="3763040" cy="496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Inverse cost needs more iterations than Hamiltonian cost. A cost switching strategy by training one model and feeding the parameters to another model can help.</a:t>
            </a:r>
            <a:endParaRPr lang="en-US" sz="92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1B60A5C-A3EB-CEDA-6638-C2CF3574E563}"/>
              </a:ext>
            </a:extLst>
          </p:cNvPr>
          <p:cNvGrpSpPr/>
          <p:nvPr/>
        </p:nvGrpSpPr>
        <p:grpSpPr>
          <a:xfrm>
            <a:off x="4694144" y="2136084"/>
            <a:ext cx="3850416" cy="791028"/>
            <a:chOff x="4694144" y="2074092"/>
            <a:chExt cx="2788920" cy="791028"/>
          </a:xfrm>
        </p:grpSpPr>
        <p:sp>
          <p:nvSpPr>
            <p:cNvPr id="111" name="Shape 37"/>
            <p:cNvSpPr/>
            <p:nvPr/>
          </p:nvSpPr>
          <p:spPr>
            <a:xfrm>
              <a:off x="4694144" y="2074093"/>
              <a:ext cx="2788920" cy="759096"/>
            </a:xfrm>
            <a:prstGeom prst="rect">
              <a:avLst/>
            </a:prstGeom>
            <a:solidFill>
              <a:srgbClr val="0E2040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12" name="Shape 38"/>
            <p:cNvSpPr/>
            <p:nvPr/>
          </p:nvSpPr>
          <p:spPr>
            <a:xfrm>
              <a:off x="4694144" y="2074092"/>
              <a:ext cx="2788920" cy="50292"/>
            </a:xfrm>
            <a:prstGeom prst="rect">
              <a:avLst/>
            </a:prstGeom>
            <a:solidFill>
              <a:srgbClr val="D4820A"/>
            </a:solidFill>
            <a:ln w="12700">
              <a:solidFill>
                <a:srgbClr val="D4820A"/>
              </a:solidFill>
              <a:prstDash val="solid"/>
            </a:ln>
          </p:spPr>
        </p:sp>
        <p:sp>
          <p:nvSpPr>
            <p:cNvPr id="113" name="Shape 39"/>
            <p:cNvSpPr/>
            <p:nvPr/>
          </p:nvSpPr>
          <p:spPr>
            <a:xfrm>
              <a:off x="4783557" y="2192964"/>
              <a:ext cx="220641" cy="292608"/>
            </a:xfrm>
            <a:prstGeom prst="ellipse">
              <a:avLst/>
            </a:prstGeom>
            <a:solidFill>
              <a:srgbClr val="D4820A">
                <a:alpha val="75000"/>
              </a:srgbClr>
            </a:solidFill>
            <a:ln w="12700">
              <a:solidFill>
                <a:srgbClr val="D4820A"/>
              </a:solidFill>
              <a:prstDash val="solid"/>
            </a:ln>
          </p:spPr>
        </p:sp>
        <p:sp>
          <p:nvSpPr>
            <p:cNvPr id="114" name="Text 40"/>
            <p:cNvSpPr/>
            <p:nvPr/>
          </p:nvSpPr>
          <p:spPr>
            <a:xfrm>
              <a:off x="4785291" y="2192964"/>
              <a:ext cx="220641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15" name="Text 41"/>
            <p:cNvSpPr/>
            <p:nvPr/>
          </p:nvSpPr>
          <p:spPr>
            <a:xfrm>
              <a:off x="5187920" y="2192964"/>
              <a:ext cx="22037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Barren Plateau Mitigation</a:t>
              </a:r>
              <a:endParaRPr lang="en-US" sz="1100" dirty="0"/>
            </a:p>
          </p:txBody>
        </p:sp>
        <p:sp>
          <p:nvSpPr>
            <p:cNvPr id="116" name="Text 43"/>
            <p:cNvSpPr/>
            <p:nvPr/>
          </p:nvSpPr>
          <p:spPr>
            <a:xfrm>
              <a:off x="4858736" y="2513009"/>
              <a:ext cx="2532888" cy="352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20" dirty="0">
                  <a:solidFill>
                    <a:srgbClr val="9FC8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Inverse cost function may suffer from barren plateaus (exponentially vanishing gradients). </a:t>
              </a:r>
              <a:endParaRPr lang="en-US" sz="920" dirty="0"/>
            </a:p>
          </p:txBody>
        </p:sp>
      </p:grpSp>
      <p:sp>
        <p:nvSpPr>
          <p:cNvPr id="117" name="Shape 44"/>
          <p:cNvSpPr/>
          <p:nvPr/>
        </p:nvSpPr>
        <p:spPr>
          <a:xfrm>
            <a:off x="4685000" y="4114310"/>
            <a:ext cx="3859560" cy="807486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8" name="Shape 45"/>
          <p:cNvSpPr/>
          <p:nvPr/>
        </p:nvSpPr>
        <p:spPr>
          <a:xfrm>
            <a:off x="4685000" y="4121929"/>
            <a:ext cx="3859560" cy="4571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9" name="Shape 46"/>
          <p:cNvSpPr/>
          <p:nvPr/>
        </p:nvSpPr>
        <p:spPr>
          <a:xfrm>
            <a:off x="4813016" y="4233181"/>
            <a:ext cx="292608" cy="292608"/>
          </a:xfrm>
          <a:prstGeom prst="ellipse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Text 47"/>
          <p:cNvSpPr/>
          <p:nvPr/>
        </p:nvSpPr>
        <p:spPr>
          <a:xfrm>
            <a:off x="4813016" y="42331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21" name="Text 48"/>
          <p:cNvSpPr/>
          <p:nvPr/>
        </p:nvSpPr>
        <p:spPr>
          <a:xfrm>
            <a:off x="5360359" y="4225445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Generalization Beyond QUBO</a:t>
            </a:r>
            <a:endParaRPr lang="en-US" sz="1100" dirty="0"/>
          </a:p>
        </p:txBody>
      </p:sp>
      <p:sp>
        <p:nvSpPr>
          <p:cNvPr id="122" name="Text 50"/>
          <p:cNvSpPr/>
          <p:nvPr/>
        </p:nvSpPr>
        <p:spPr>
          <a:xfrm>
            <a:off x="4813016" y="4563235"/>
            <a:ext cx="3675664" cy="43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warm-start technique showing improvement in QUBO problems is referenced but its extension to inverse-type costs is explicitly left open.</a:t>
            </a:r>
            <a:endParaRPr lang="en-US" sz="920" dirty="0"/>
          </a:p>
        </p:txBody>
      </p:sp>
      <p:sp>
        <p:nvSpPr>
          <p:cNvPr id="123" name="Shape 24">
            <a:extLst>
              <a:ext uri="{FF2B5EF4-FFF2-40B4-BE49-F238E27FC236}">
                <a16:creationId xmlns:a16="http://schemas.microsoft.com/office/drawing/2014/main" id="{60EDACAB-781E-A0BD-BEFB-2A7FF0EB2D48}"/>
              </a:ext>
            </a:extLst>
          </p:cNvPr>
          <p:cNvSpPr/>
          <p:nvPr/>
        </p:nvSpPr>
        <p:spPr>
          <a:xfrm>
            <a:off x="4694144" y="1256195"/>
            <a:ext cx="3850416" cy="45719"/>
          </a:xfrm>
          <a:prstGeom prst="rect">
            <a:avLst/>
          </a:prstGeom>
          <a:solidFill>
            <a:srgbClr val="0E67B0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02" grpId="0" animBg="1"/>
      <p:bldP spid="103" grpId="0" animBg="1"/>
      <p:bldP spid="104" grpId="0" animBg="1"/>
      <p:bldP spid="108" grpId="0" animBg="1"/>
      <p:bldP spid="109" grpId="0" animBg="1"/>
      <p:bldP spid="110" grpId="0" animBg="1"/>
      <p:bldP spid="120" grpId="0" animBg="1"/>
      <p:bldP spid="121" grpId="0" animBg="1"/>
      <p:bldP spid="1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717" y="498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 start strategies </a:t>
            </a:r>
            <a:endParaRPr lang="en-US" sz="3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82304A-B38D-83DB-27BB-D5AA4004D54F}"/>
              </a:ext>
            </a:extLst>
          </p:cNvPr>
          <p:cNvSpPr txBox="1"/>
          <p:nvPr/>
        </p:nvSpPr>
        <p:spPr>
          <a:xfrm>
            <a:off x="97886" y="4470678"/>
            <a:ext cx="5988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Reference</a:t>
            </a:r>
            <a:r>
              <a:rPr lang="en-IN" sz="1200" dirty="0">
                <a:solidFill>
                  <a:schemeClr val="bg1"/>
                </a:solidFill>
              </a:rPr>
              <a:t>: Y. Chai, K. Jansen, S. Kühn, T. Schwägerl, and T. Stollenwerk, Structure-inspired ansatz and warm start of variational quantum algorithms for quadratic unconstrained binary optimization problems, arXiv:2407.02569.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10">
                <a:extLst>
                  <a:ext uri="{FF2B5EF4-FFF2-40B4-BE49-F238E27FC236}">
                    <a16:creationId xmlns:a16="http://schemas.microsoft.com/office/drawing/2014/main" id="{53E03AE1-894C-A515-655D-2EC2B7D50C1A}"/>
                  </a:ext>
                </a:extLst>
              </p:cNvPr>
              <p:cNvSpPr/>
              <p:nvPr/>
            </p:nvSpPr>
            <p:spPr>
              <a:xfrm>
                <a:off x="947331" y="499045"/>
                <a:ext cx="5988051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pt-BR" sz="110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  <a:sym typeface="Symbol" panose="05050102010706020507" pitchFamily="18" charset="2"/>
                  </a:rPr>
                  <a:t> </a:t>
                </a:r>
                <a:r>
                  <a:rPr lang="pt-BR" sz="110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 = 4087 = 61×67  ·  N = 16 qubits  ·  </a:t>
                </a:r>
                <a14:m>
                  <m:oMath xmlns:m="http://schemas.openxmlformats.org/officeDocument/2006/math">
                    <m:r>
                      <a:rPr lang="pt-BR" sz="1100" i="1" smtClean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110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=0.25  ·  5 independent runs</a:t>
                </a:r>
              </a:p>
            </p:txBody>
          </p:sp>
        </mc:Choice>
        <mc:Fallback>
          <p:sp>
            <p:nvSpPr>
              <p:cNvPr id="30" name="Text 10">
                <a:extLst>
                  <a:ext uri="{FF2B5EF4-FFF2-40B4-BE49-F238E27FC236}">
                    <a16:creationId xmlns:a16="http://schemas.microsoft.com/office/drawing/2014/main" id="{53E03AE1-894C-A515-655D-2EC2B7D50C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31" y="499045"/>
                <a:ext cx="5988051" cy="320040"/>
              </a:xfrm>
              <a:prstGeom prst="rect">
                <a:avLst/>
              </a:prstGeom>
              <a:blipFill>
                <a:blip r:embed="rId3"/>
                <a:stretch>
                  <a:fillRect b="-576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4D5A3410-D139-53CF-C3AB-6BD870D5A1A3}"/>
              </a:ext>
            </a:extLst>
          </p:cNvPr>
          <p:cNvGrpSpPr/>
          <p:nvPr/>
        </p:nvGrpSpPr>
        <p:grpSpPr>
          <a:xfrm>
            <a:off x="255713" y="767166"/>
            <a:ext cx="5752302" cy="2796937"/>
            <a:chOff x="299788" y="821409"/>
            <a:chExt cx="5752302" cy="2796937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83741BD-B4F2-A455-5244-5DFD76889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779" r="68539" b="47421"/>
            <a:stretch>
              <a:fillRect/>
            </a:stretch>
          </p:blipFill>
          <p:spPr>
            <a:xfrm>
              <a:off x="299788" y="821410"/>
              <a:ext cx="2792124" cy="279693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EB38657-021B-9861-173B-405ED8F9D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4139" t="6930" r="34139" b="48776"/>
            <a:stretch>
              <a:fillRect/>
            </a:stretch>
          </p:blipFill>
          <p:spPr>
            <a:xfrm>
              <a:off x="3140994" y="821409"/>
              <a:ext cx="2911096" cy="2796935"/>
            </a:xfrm>
            <a:prstGeom prst="rect">
              <a:avLst/>
            </a:prstGeom>
          </p:spPr>
        </p:pic>
      </p:grpSp>
      <p:sp>
        <p:nvSpPr>
          <p:cNvPr id="36" name="Shape 16">
            <a:extLst>
              <a:ext uri="{FF2B5EF4-FFF2-40B4-BE49-F238E27FC236}">
                <a16:creationId xmlns:a16="http://schemas.microsoft.com/office/drawing/2014/main" id="{0F15BE00-C856-1814-AA3D-5CFCF45B350F}"/>
              </a:ext>
            </a:extLst>
          </p:cNvPr>
          <p:cNvSpPr/>
          <p:nvPr/>
        </p:nvSpPr>
        <p:spPr>
          <a:xfrm>
            <a:off x="6191976" y="164595"/>
            <a:ext cx="2743200" cy="706957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E94C32B8-E8C0-21C5-3FFC-42A0487ADE70}"/>
              </a:ext>
            </a:extLst>
          </p:cNvPr>
          <p:cNvSpPr/>
          <p:nvPr/>
        </p:nvSpPr>
        <p:spPr>
          <a:xfrm>
            <a:off x="6191976" y="164595"/>
            <a:ext cx="2743200" cy="50292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3DDDA329-98DE-58BA-016F-70DF0B35BE9B}"/>
              </a:ext>
            </a:extLst>
          </p:cNvPr>
          <p:cNvSpPr/>
          <p:nvPr/>
        </p:nvSpPr>
        <p:spPr>
          <a:xfrm>
            <a:off x="6310848" y="265179"/>
            <a:ext cx="310896" cy="310896"/>
          </a:xfrm>
          <a:prstGeom prst="ellipse">
            <a:avLst/>
          </a:prstGeom>
          <a:solidFill>
            <a:srgbClr val="D62728">
              <a:alpha val="80000"/>
            </a:srgbClr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E6991769-DD2B-9274-3308-EEB7E7DA731B}"/>
              </a:ext>
            </a:extLst>
          </p:cNvPr>
          <p:cNvSpPr/>
          <p:nvPr/>
        </p:nvSpPr>
        <p:spPr>
          <a:xfrm>
            <a:off x="6310848" y="2651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</a:t>
            </a:r>
            <a:endParaRPr lang="en-US" sz="90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7F51D0AD-CF96-5E00-BAF0-144E5EE38172}"/>
              </a:ext>
            </a:extLst>
          </p:cNvPr>
          <p:cNvSpPr/>
          <p:nvPr/>
        </p:nvSpPr>
        <p:spPr>
          <a:xfrm>
            <a:off x="6694896" y="265179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(Random Init)</a:t>
            </a:r>
            <a:endParaRPr lang="en-US" sz="105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85693DE0-ECC5-94F9-5939-E78F97A953D6}"/>
              </a:ext>
            </a:extLst>
          </p:cNvPr>
          <p:cNvSpPr/>
          <p:nvPr/>
        </p:nvSpPr>
        <p:spPr>
          <a:xfrm>
            <a:off x="8139648" y="279802"/>
            <a:ext cx="768096" cy="201168"/>
          </a:xfrm>
          <a:prstGeom prst="roundRect">
            <a:avLst>
              <a:gd name="adj" fmla="val 22727"/>
            </a:avLst>
          </a:prstGeom>
          <a:solidFill>
            <a:srgbClr val="D62728">
              <a:alpha val="40000"/>
            </a:srgbClr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3B634F29-4273-2683-533D-CC4C016D661E}"/>
              </a:ext>
            </a:extLst>
          </p:cNvPr>
          <p:cNvSpPr/>
          <p:nvPr/>
        </p:nvSpPr>
        <p:spPr>
          <a:xfrm>
            <a:off x="8075640" y="265179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75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B68DD713-DC1B-7C79-B8BA-C1C6A893F2C8}"/>
              </a:ext>
            </a:extLst>
          </p:cNvPr>
          <p:cNvSpPr/>
          <p:nvPr/>
        </p:nvSpPr>
        <p:spPr>
          <a:xfrm>
            <a:off x="6310848" y="584498"/>
            <a:ext cx="2505456" cy="42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angles drawn from U(−π, π). No prior knowledge. Used as the reference.</a:t>
            </a:r>
            <a:endParaRPr lang="en-US" sz="880" dirty="0"/>
          </a:p>
        </p:txBody>
      </p:sp>
      <p:sp>
        <p:nvSpPr>
          <p:cNvPr id="46" name="Shape 27">
            <a:extLst>
              <a:ext uri="{FF2B5EF4-FFF2-40B4-BE49-F238E27FC236}">
                <a16:creationId xmlns:a16="http://schemas.microsoft.com/office/drawing/2014/main" id="{98F7DBCF-8A10-5A5A-5E68-A89A788E8E2C}"/>
              </a:ext>
            </a:extLst>
          </p:cNvPr>
          <p:cNvSpPr/>
          <p:nvPr/>
        </p:nvSpPr>
        <p:spPr>
          <a:xfrm>
            <a:off x="6200402" y="1033631"/>
            <a:ext cx="2743200" cy="872783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A0A05D67-D5CF-9825-167B-A80D0F325CB9}"/>
              </a:ext>
            </a:extLst>
          </p:cNvPr>
          <p:cNvSpPr/>
          <p:nvPr/>
        </p:nvSpPr>
        <p:spPr>
          <a:xfrm>
            <a:off x="6200402" y="1033631"/>
            <a:ext cx="2743200" cy="5029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8" name="Shape 29">
            <a:extLst>
              <a:ext uri="{FF2B5EF4-FFF2-40B4-BE49-F238E27FC236}">
                <a16:creationId xmlns:a16="http://schemas.microsoft.com/office/drawing/2014/main" id="{11638144-9519-5BA7-CFF8-3635EFDAA187}"/>
              </a:ext>
            </a:extLst>
          </p:cNvPr>
          <p:cNvSpPr/>
          <p:nvPr/>
        </p:nvSpPr>
        <p:spPr>
          <a:xfrm>
            <a:off x="6319274" y="1134215"/>
            <a:ext cx="310896" cy="310896"/>
          </a:xfrm>
          <a:prstGeom prst="ellipse">
            <a:avLst/>
          </a:prstGeom>
          <a:solidFill>
            <a:srgbClr val="1F77B4">
              <a:alpha val="8000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27AE2C06-E968-25C0-FD68-338ED23CC58B}"/>
              </a:ext>
            </a:extLst>
          </p:cNvPr>
          <p:cNvSpPr/>
          <p:nvPr/>
        </p:nvSpPr>
        <p:spPr>
          <a:xfrm>
            <a:off x="6319274" y="11342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66DD77DB-18AF-4431-B98F-D0648DD029BA}"/>
              </a:ext>
            </a:extLst>
          </p:cNvPr>
          <p:cNvSpPr/>
          <p:nvPr/>
        </p:nvSpPr>
        <p:spPr>
          <a:xfrm>
            <a:off x="6703322" y="1134215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Pre-train</a:t>
            </a:r>
            <a:endParaRPr lang="en-US" sz="1050" dirty="0"/>
          </a:p>
        </p:txBody>
      </p:sp>
      <p:sp>
        <p:nvSpPr>
          <p:cNvPr id="51" name="Shape 32">
            <a:extLst>
              <a:ext uri="{FF2B5EF4-FFF2-40B4-BE49-F238E27FC236}">
                <a16:creationId xmlns:a16="http://schemas.microsoft.com/office/drawing/2014/main" id="{858EE6B4-D7FC-221B-7B4C-7547034F8959}"/>
              </a:ext>
            </a:extLst>
          </p:cNvPr>
          <p:cNvSpPr/>
          <p:nvPr/>
        </p:nvSpPr>
        <p:spPr>
          <a:xfrm>
            <a:off x="7937762" y="1134215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1F77B4">
              <a:alpha val="40000"/>
            </a:srgbClr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2" name="Text 33">
            <a:extLst>
              <a:ext uri="{FF2B5EF4-FFF2-40B4-BE49-F238E27FC236}">
                <a16:creationId xmlns:a16="http://schemas.microsoft.com/office/drawing/2014/main" id="{8CA6F06A-9A0F-10C2-A783-3F8A28B071D7}"/>
              </a:ext>
            </a:extLst>
          </p:cNvPr>
          <p:cNvSpPr/>
          <p:nvPr/>
        </p:nvSpPr>
        <p:spPr>
          <a:xfrm>
            <a:off x="7937762" y="113421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Switching</a:t>
            </a:r>
            <a:endParaRPr lang="en-US" sz="750" dirty="0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0A1346D4-15B8-8C4E-928B-BF9428206F6D}"/>
              </a:ext>
            </a:extLst>
          </p:cNvPr>
          <p:cNvSpPr/>
          <p:nvPr/>
        </p:nvSpPr>
        <p:spPr>
          <a:xfrm>
            <a:off x="6337562" y="1469461"/>
            <a:ext cx="2505456" cy="433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COBYLA run on the squared-error Hamiltonian cost (easier landscape) → transfer final params to inverse-cost optimisation.</a:t>
            </a:r>
            <a:endParaRPr lang="en-US" sz="880" dirty="0"/>
          </a:p>
        </p:txBody>
      </p:sp>
      <p:sp>
        <p:nvSpPr>
          <p:cNvPr id="56" name="Shape 38">
            <a:extLst>
              <a:ext uri="{FF2B5EF4-FFF2-40B4-BE49-F238E27FC236}">
                <a16:creationId xmlns:a16="http://schemas.microsoft.com/office/drawing/2014/main" id="{0E83A412-15CA-A8F7-12A2-DC8B04C5CB5C}"/>
              </a:ext>
            </a:extLst>
          </p:cNvPr>
          <p:cNvSpPr/>
          <p:nvPr/>
        </p:nvSpPr>
        <p:spPr>
          <a:xfrm>
            <a:off x="6200402" y="2022827"/>
            <a:ext cx="2743200" cy="872783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EB0DD65D-3250-BB8F-C950-861FDD481A44}"/>
              </a:ext>
            </a:extLst>
          </p:cNvPr>
          <p:cNvSpPr/>
          <p:nvPr/>
        </p:nvSpPr>
        <p:spPr>
          <a:xfrm>
            <a:off x="6200402" y="2022827"/>
            <a:ext cx="2743200" cy="50292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58" name="Shape 40">
            <a:extLst>
              <a:ext uri="{FF2B5EF4-FFF2-40B4-BE49-F238E27FC236}">
                <a16:creationId xmlns:a16="http://schemas.microsoft.com/office/drawing/2014/main" id="{BB5CA359-5470-395A-A588-C6D43F4A33A3}"/>
              </a:ext>
            </a:extLst>
          </p:cNvPr>
          <p:cNvSpPr/>
          <p:nvPr/>
        </p:nvSpPr>
        <p:spPr>
          <a:xfrm>
            <a:off x="6319274" y="2123411"/>
            <a:ext cx="310896" cy="310896"/>
          </a:xfrm>
          <a:prstGeom prst="ellipse">
            <a:avLst/>
          </a:prstGeom>
          <a:solidFill>
            <a:srgbClr val="2CA02C">
              <a:alpha val="8000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237C74EC-CAE4-4710-CB2D-D081B5453AFF}"/>
              </a:ext>
            </a:extLst>
          </p:cNvPr>
          <p:cNvSpPr/>
          <p:nvPr/>
        </p:nvSpPr>
        <p:spPr>
          <a:xfrm>
            <a:off x="6319274" y="21234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71CD5DD7-1A46-CEF5-4826-337E19363294}"/>
              </a:ext>
            </a:extLst>
          </p:cNvPr>
          <p:cNvSpPr/>
          <p:nvPr/>
        </p:nvSpPr>
        <p:spPr>
          <a:xfrm>
            <a:off x="6663635" y="2123411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Structure-Inspired Init</a:t>
            </a:r>
            <a:endParaRPr lang="en-US" sz="1050" dirty="0"/>
          </a:p>
        </p:txBody>
      </p:sp>
      <p:sp>
        <p:nvSpPr>
          <p:cNvPr id="61" name="Shape 43">
            <a:extLst>
              <a:ext uri="{FF2B5EF4-FFF2-40B4-BE49-F238E27FC236}">
                <a16:creationId xmlns:a16="http://schemas.microsoft.com/office/drawing/2014/main" id="{7B64C7AF-D47D-102D-96DA-3D226B1F6EF8}"/>
              </a:ext>
            </a:extLst>
          </p:cNvPr>
          <p:cNvSpPr/>
          <p:nvPr/>
        </p:nvSpPr>
        <p:spPr>
          <a:xfrm>
            <a:off x="7937762" y="2123411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2CA02C">
              <a:alpha val="40000"/>
            </a:srgbClr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2" name="Text 44">
            <a:extLst>
              <a:ext uri="{FF2B5EF4-FFF2-40B4-BE49-F238E27FC236}">
                <a16:creationId xmlns:a16="http://schemas.microsoft.com/office/drawing/2014/main" id="{EC9255F6-E780-7B33-06CD-920A112C5FC8}"/>
              </a:ext>
            </a:extLst>
          </p:cNvPr>
          <p:cNvSpPr/>
          <p:nvPr/>
        </p:nvSpPr>
        <p:spPr>
          <a:xfrm>
            <a:off x="7937762" y="2123411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Bias</a:t>
            </a:r>
            <a:endParaRPr lang="en-US" sz="750" dirty="0"/>
          </a:p>
        </p:txBody>
      </p:sp>
      <p:sp>
        <p:nvSpPr>
          <p:cNvPr id="64" name="Text 46">
            <a:extLst>
              <a:ext uri="{FF2B5EF4-FFF2-40B4-BE49-F238E27FC236}">
                <a16:creationId xmlns:a16="http://schemas.microsoft.com/office/drawing/2014/main" id="{DC451C8B-F8D8-3FC7-5CE9-1EAC5AB09A40}"/>
              </a:ext>
            </a:extLst>
          </p:cNvPr>
          <p:cNvSpPr/>
          <p:nvPr/>
        </p:nvSpPr>
        <p:spPr>
          <a:xfrm>
            <a:off x="6319274" y="2464023"/>
            <a:ext cx="2505456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Layer-1 RY angles analytically biased toward p ≈ √n in binary. q-register set to uniform superposition (π/2). Deeper layers perturbed ±0.25.</a:t>
            </a:r>
            <a:endParaRPr lang="en-US" sz="880" dirty="0"/>
          </a:p>
        </p:txBody>
      </p:sp>
      <p:sp>
        <p:nvSpPr>
          <p:cNvPr id="66" name="Shape 49">
            <a:extLst>
              <a:ext uri="{FF2B5EF4-FFF2-40B4-BE49-F238E27FC236}">
                <a16:creationId xmlns:a16="http://schemas.microsoft.com/office/drawing/2014/main" id="{E9F9F955-62B4-70B2-9C00-C5E974A0C38E}"/>
              </a:ext>
            </a:extLst>
          </p:cNvPr>
          <p:cNvSpPr/>
          <p:nvPr/>
        </p:nvSpPr>
        <p:spPr>
          <a:xfrm>
            <a:off x="6200402" y="3061021"/>
            <a:ext cx="2743200" cy="867873"/>
          </a:xfrm>
          <a:prstGeom prst="rect">
            <a:avLst/>
          </a:prstGeom>
          <a:solidFill>
            <a:srgbClr val="1A0E2E"/>
          </a:solidFill>
          <a:ln w="28575">
            <a:solidFill>
              <a:srgbClr val="9467B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7" name="Shape 50">
            <a:extLst>
              <a:ext uri="{FF2B5EF4-FFF2-40B4-BE49-F238E27FC236}">
                <a16:creationId xmlns:a16="http://schemas.microsoft.com/office/drawing/2014/main" id="{D2F0A977-29D6-E8FB-D747-A61E9FFB76D2}"/>
              </a:ext>
            </a:extLst>
          </p:cNvPr>
          <p:cNvSpPr/>
          <p:nvPr/>
        </p:nvSpPr>
        <p:spPr>
          <a:xfrm>
            <a:off x="6200402" y="3061021"/>
            <a:ext cx="2743200" cy="50292"/>
          </a:xfrm>
          <a:prstGeom prst="rect">
            <a:avLst/>
          </a:prstGeom>
          <a:solidFill>
            <a:srgbClr val="9467BD"/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68" name="Shape 51">
            <a:extLst>
              <a:ext uri="{FF2B5EF4-FFF2-40B4-BE49-F238E27FC236}">
                <a16:creationId xmlns:a16="http://schemas.microsoft.com/office/drawing/2014/main" id="{E48D3D14-E809-79B9-D8A8-B7AC0CEAC6DF}"/>
              </a:ext>
            </a:extLst>
          </p:cNvPr>
          <p:cNvSpPr/>
          <p:nvPr/>
        </p:nvSpPr>
        <p:spPr>
          <a:xfrm>
            <a:off x="6319274" y="3161605"/>
            <a:ext cx="310896" cy="310896"/>
          </a:xfrm>
          <a:prstGeom prst="ellipse">
            <a:avLst/>
          </a:prstGeom>
          <a:solidFill>
            <a:srgbClr val="9467BD">
              <a:alpha val="80000"/>
            </a:srgbClr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69" name="Text 52">
            <a:extLst>
              <a:ext uri="{FF2B5EF4-FFF2-40B4-BE49-F238E27FC236}">
                <a16:creationId xmlns:a16="http://schemas.microsoft.com/office/drawing/2014/main" id="{E3464DD5-DECB-A49B-ECE9-CDE870B1F2EE}"/>
              </a:ext>
            </a:extLst>
          </p:cNvPr>
          <p:cNvSpPr/>
          <p:nvPr/>
        </p:nvSpPr>
        <p:spPr>
          <a:xfrm>
            <a:off x="6319274" y="31616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70" name="Text 53">
            <a:extLst>
              <a:ext uri="{FF2B5EF4-FFF2-40B4-BE49-F238E27FC236}">
                <a16:creationId xmlns:a16="http://schemas.microsoft.com/office/drawing/2014/main" id="{0B4DDC92-D95B-2EF5-8408-9389E0CA6C2D}"/>
              </a:ext>
            </a:extLst>
          </p:cNvPr>
          <p:cNvSpPr/>
          <p:nvPr/>
        </p:nvSpPr>
        <p:spPr>
          <a:xfrm>
            <a:off x="6703322" y="3161605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Mean-Field Init</a:t>
            </a:r>
            <a:endParaRPr lang="en-US" sz="1050" dirty="0"/>
          </a:p>
        </p:txBody>
      </p:sp>
      <p:sp>
        <p:nvSpPr>
          <p:cNvPr id="71" name="Shape 54">
            <a:extLst>
              <a:ext uri="{FF2B5EF4-FFF2-40B4-BE49-F238E27FC236}">
                <a16:creationId xmlns:a16="http://schemas.microsoft.com/office/drawing/2014/main" id="{08D17D46-6C37-E8EF-1365-EE788A6102C4}"/>
              </a:ext>
            </a:extLst>
          </p:cNvPr>
          <p:cNvSpPr/>
          <p:nvPr/>
        </p:nvSpPr>
        <p:spPr>
          <a:xfrm>
            <a:off x="7937762" y="3161605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9467BD">
              <a:alpha val="40000"/>
            </a:srgbClr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72" name="Text 55">
            <a:extLst>
              <a:ext uri="{FF2B5EF4-FFF2-40B4-BE49-F238E27FC236}">
                <a16:creationId xmlns:a16="http://schemas.microsoft.com/office/drawing/2014/main" id="{9875D0CA-379F-8C14-513F-79CF28538F2D}"/>
              </a:ext>
            </a:extLst>
          </p:cNvPr>
          <p:cNvSpPr/>
          <p:nvPr/>
        </p:nvSpPr>
        <p:spPr>
          <a:xfrm>
            <a:off x="7937762" y="316160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Strategy</a:t>
            </a:r>
            <a:endParaRPr lang="en-US" sz="750" dirty="0"/>
          </a:p>
        </p:txBody>
      </p:sp>
      <p:sp>
        <p:nvSpPr>
          <p:cNvPr id="74" name="Text 57">
            <a:extLst>
              <a:ext uri="{FF2B5EF4-FFF2-40B4-BE49-F238E27FC236}">
                <a16:creationId xmlns:a16="http://schemas.microsoft.com/office/drawing/2014/main" id="{5554AFEB-6773-9B7D-FC50-911ECB10077C}"/>
              </a:ext>
            </a:extLst>
          </p:cNvPr>
          <p:cNvSpPr/>
          <p:nvPr/>
        </p:nvSpPr>
        <p:spPr>
          <a:xfrm>
            <a:off x="6319274" y="3497642"/>
            <a:ext cx="2505456" cy="47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mean-field optimisation over product-state marginals P(qubit=1). RY angles set to 2·arcsin(√p*). Best of 8 restarts selected.</a:t>
            </a:r>
            <a:endParaRPr lang="en-US" sz="880" dirty="0"/>
          </a:p>
        </p:txBody>
      </p:sp>
      <p:sp>
        <p:nvSpPr>
          <p:cNvPr id="76" name="Shape 60">
            <a:extLst>
              <a:ext uri="{FF2B5EF4-FFF2-40B4-BE49-F238E27FC236}">
                <a16:creationId xmlns:a16="http://schemas.microsoft.com/office/drawing/2014/main" id="{B862AE28-43AF-FB24-8D2F-C19582F149C4}"/>
              </a:ext>
            </a:extLst>
          </p:cNvPr>
          <p:cNvSpPr/>
          <p:nvPr/>
        </p:nvSpPr>
        <p:spPr>
          <a:xfrm>
            <a:off x="6196759" y="4082601"/>
            <a:ext cx="2743200" cy="93178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7" name="Shape 61">
            <a:extLst>
              <a:ext uri="{FF2B5EF4-FFF2-40B4-BE49-F238E27FC236}">
                <a16:creationId xmlns:a16="http://schemas.microsoft.com/office/drawing/2014/main" id="{F73C1052-115B-833E-0BE7-12880B841180}"/>
              </a:ext>
            </a:extLst>
          </p:cNvPr>
          <p:cNvSpPr/>
          <p:nvPr/>
        </p:nvSpPr>
        <p:spPr>
          <a:xfrm>
            <a:off x="6200402" y="4088319"/>
            <a:ext cx="2743200" cy="50292"/>
          </a:xfrm>
          <a:prstGeom prst="rect">
            <a:avLst/>
          </a:prstGeom>
          <a:solidFill>
            <a:srgbClr val="8C564B"/>
          </a:solidFill>
          <a:ln w="12700">
            <a:solidFill>
              <a:srgbClr val="8C564B"/>
            </a:solidFill>
            <a:prstDash val="solid"/>
          </a:ln>
        </p:spPr>
      </p:sp>
      <p:sp>
        <p:nvSpPr>
          <p:cNvPr id="78" name="Shape 62">
            <a:extLst>
              <a:ext uri="{FF2B5EF4-FFF2-40B4-BE49-F238E27FC236}">
                <a16:creationId xmlns:a16="http://schemas.microsoft.com/office/drawing/2014/main" id="{90AA9B86-B7F4-5A02-A1AA-9D769106C9FC}"/>
              </a:ext>
            </a:extLst>
          </p:cNvPr>
          <p:cNvSpPr/>
          <p:nvPr/>
        </p:nvSpPr>
        <p:spPr>
          <a:xfrm>
            <a:off x="6315631" y="4183185"/>
            <a:ext cx="310896" cy="310896"/>
          </a:xfrm>
          <a:prstGeom prst="ellipse">
            <a:avLst/>
          </a:prstGeom>
          <a:solidFill>
            <a:srgbClr val="8C564B">
              <a:alpha val="80000"/>
            </a:srgbClr>
          </a:solidFill>
          <a:ln w="12700">
            <a:solidFill>
              <a:srgbClr val="8C564B"/>
            </a:solidFill>
            <a:prstDash val="solid"/>
          </a:ln>
        </p:spPr>
      </p:sp>
      <p:sp>
        <p:nvSpPr>
          <p:cNvPr id="79" name="Text 63">
            <a:extLst>
              <a:ext uri="{FF2B5EF4-FFF2-40B4-BE49-F238E27FC236}">
                <a16:creationId xmlns:a16="http://schemas.microsoft.com/office/drawing/2014/main" id="{DEAE2298-166C-7851-5755-90D696428353}"/>
              </a:ext>
            </a:extLst>
          </p:cNvPr>
          <p:cNvSpPr/>
          <p:nvPr/>
        </p:nvSpPr>
        <p:spPr>
          <a:xfrm>
            <a:off x="6315631" y="41831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80" name="Text 64">
            <a:extLst>
              <a:ext uri="{FF2B5EF4-FFF2-40B4-BE49-F238E27FC236}">
                <a16:creationId xmlns:a16="http://schemas.microsoft.com/office/drawing/2014/main" id="{E0510ADF-F476-FCF1-DE3E-F41EACAD2EC3}"/>
              </a:ext>
            </a:extLst>
          </p:cNvPr>
          <p:cNvSpPr/>
          <p:nvPr/>
        </p:nvSpPr>
        <p:spPr>
          <a:xfrm>
            <a:off x="6699679" y="4183185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Multi-Start Screening</a:t>
            </a:r>
            <a:endParaRPr lang="en-US" sz="1050" dirty="0"/>
          </a:p>
        </p:txBody>
      </p:sp>
      <p:sp>
        <p:nvSpPr>
          <p:cNvPr id="81" name="Shape 65">
            <a:extLst>
              <a:ext uri="{FF2B5EF4-FFF2-40B4-BE49-F238E27FC236}">
                <a16:creationId xmlns:a16="http://schemas.microsoft.com/office/drawing/2014/main" id="{E511A280-0556-F723-31F3-6A4C3EFD70EA}"/>
              </a:ext>
            </a:extLst>
          </p:cNvPr>
          <p:cNvSpPr/>
          <p:nvPr/>
        </p:nvSpPr>
        <p:spPr>
          <a:xfrm>
            <a:off x="7934119" y="4183185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8C564B">
              <a:alpha val="40000"/>
            </a:srgbClr>
          </a:solidFill>
          <a:ln w="12700">
            <a:solidFill>
              <a:srgbClr val="8C564B"/>
            </a:solidFill>
            <a:prstDash val="solid"/>
          </a:ln>
        </p:spPr>
      </p:sp>
      <p:sp>
        <p:nvSpPr>
          <p:cNvPr id="82" name="Text 66">
            <a:extLst>
              <a:ext uri="{FF2B5EF4-FFF2-40B4-BE49-F238E27FC236}">
                <a16:creationId xmlns:a16="http://schemas.microsoft.com/office/drawing/2014/main" id="{28E01D9C-8716-EB44-CBCD-A3B5EFEC251F}"/>
              </a:ext>
            </a:extLst>
          </p:cNvPr>
          <p:cNvSpPr/>
          <p:nvPr/>
        </p:nvSpPr>
        <p:spPr>
          <a:xfrm>
            <a:off x="7934119" y="418318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750" dirty="0"/>
          </a:p>
        </p:txBody>
      </p:sp>
      <p:sp>
        <p:nvSpPr>
          <p:cNvPr id="84" name="Text 68">
            <a:extLst>
              <a:ext uri="{FF2B5EF4-FFF2-40B4-BE49-F238E27FC236}">
                <a16:creationId xmlns:a16="http://schemas.microsoft.com/office/drawing/2014/main" id="{A5CE0B15-AD76-0E36-BF52-2F42D7FA5569}"/>
              </a:ext>
            </a:extLst>
          </p:cNvPr>
          <p:cNvSpPr/>
          <p:nvPr/>
        </p:nvSpPr>
        <p:spPr>
          <a:xfrm>
            <a:off x="6315631" y="4520960"/>
            <a:ext cx="2505456" cy="47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9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 random starts, each run for 20 Hamiltonian-cost iterations. Best-scoring candidate params passed to full inverse-cost optimisation.</a:t>
            </a:r>
            <a:endParaRPr lang="en-US" sz="88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ectangle 1">
                <a:extLst>
                  <a:ext uri="{FF2B5EF4-FFF2-40B4-BE49-F238E27FC236}">
                    <a16:creationId xmlns:a16="http://schemas.microsoft.com/office/drawing/2014/main" id="{0DD5FA75-FF2B-CF68-51BB-F1CEC2EE8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87" y="3570596"/>
                <a:ext cx="5988052" cy="9227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</a:rPr>
                  <a:t>S3 : Solves a classical approximation of the problem first </a:t>
                </a: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sym typeface="Symbol" panose="05050102010706020507" pitchFamily="18" charset="2"/>
                  </a:rPr>
                  <a:t> Estimate the probability of each bit being 0 or 1  Ignore correlations between qubits </a:t>
                </a:r>
                <a:r>
                  <a:rPr lang="en-US" altLang="en-US" sz="12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 Choose probabilities that minimize the expected cost  Convert probabilities to rotation angles </a:t>
                </a:r>
                <a14:m>
                  <m:oMath xmlns:m="http://schemas.openxmlformats.org/officeDocument/2006/math">
                    <m:r>
                      <a: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rPr>
                      <m:t>𝜃</m:t>
                    </m:r>
                    <m:r>
                      <a:rPr kumimoji="0" lang="en-US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rPr>
                      <m:t>=</m:t>
                    </m:r>
                    <m:func>
                      <m:funcPr>
                        <m:ctrlPr>
                          <a:rPr kumimoji="0" lang="en-US" altLang="en-US" sz="12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kumimoji="0" lang="en-US" altLang="en-US" sz="1200" b="0" i="0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altLang="en-US" sz="1200" b="0" i="0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</a:rPr>
                              <m:t>sin</m:t>
                            </m:r>
                          </m:e>
                          <m:sup>
                            <m:r>
                              <a:rPr kumimoji="0" lang="en-US" altLang="en-US" sz="1200" b="0" i="0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endChr m:val=""/>
                            <m:ctrlPr>
                              <a:rPr kumimoji="0" lang="en-US" altLang="en-US" sz="1200" b="0" i="0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kumimoji="0" lang="en-US" altLang="en-US" sz="12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effectLst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kumimoji="0" lang="en-US" altLang="en-US" sz="1200" b="0" i="0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en-US" sz="1200" b="0" i="0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effectLst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kumimoji="0" lang="en-US" altLang="en-US" sz="1200" b="0" i="0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effectLst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func>
                  </m:oMath>
                </a14:m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altLang="en-US" sz="12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  Use these angles as initial parameters for VQE</a:t>
                </a: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>
          <p:sp>
            <p:nvSpPr>
              <p:cNvPr id="86" name="Rectangle 1">
                <a:extLst>
                  <a:ext uri="{FF2B5EF4-FFF2-40B4-BE49-F238E27FC236}">
                    <a16:creationId xmlns:a16="http://schemas.microsoft.com/office/drawing/2014/main" id="{0DD5FA75-FF2B-CF68-51BB-F1CEC2EE8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887" y="3570596"/>
                <a:ext cx="5988052" cy="922753"/>
              </a:xfrm>
              <a:prstGeom prst="rect">
                <a:avLst/>
              </a:prstGeom>
              <a:blipFill>
                <a:blip r:embed="rId5"/>
                <a:stretch>
                  <a:fillRect t="-23179" b="-721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6B932A-BCA4-1EDF-C961-16ED187626FE}"/>
              </a:ext>
            </a:extLst>
          </p:cNvPr>
          <p:cNvCxnSpPr/>
          <p:nvPr/>
        </p:nvCxnSpPr>
        <p:spPr>
          <a:xfrm>
            <a:off x="97886" y="4470678"/>
            <a:ext cx="595420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2" grpId="0" animBg="1"/>
      <p:bldP spid="44" grpId="0" animBg="1"/>
      <p:bldP spid="49" grpId="0" animBg="1"/>
      <p:bldP spid="50" grpId="0" animBg="1"/>
      <p:bldP spid="52" grpId="0" animBg="1"/>
      <p:bldP spid="54" grpId="0" animBg="1"/>
      <p:bldP spid="59" grpId="0" animBg="1"/>
      <p:bldP spid="60" grpId="0" animBg="1"/>
      <p:bldP spid="62" grpId="0" animBg="1"/>
      <p:bldP spid="64" grpId="0" animBg="1"/>
      <p:bldP spid="69" grpId="0" animBg="1"/>
      <p:bldP spid="70" grpId="0" animBg="1"/>
      <p:bldP spid="72" grpId="0" animBg="1"/>
      <p:bldP spid="74" grpId="0" animBg="1"/>
      <p:bldP spid="79" grpId="0" animBg="1"/>
      <p:bldP spid="80" grpId="0" animBg="1"/>
      <p:bldP spid="82" grpId="0" animBg="1"/>
      <p:bldP spid="84" grpId="0" animBg="1"/>
      <p:bldP spid="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2975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69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VQE Prime Factorization — Replication &amp; Extension Study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609916"/>
            <a:ext cx="8229600" cy="640080"/>
          </a:xfrm>
          <a:prstGeom prst="rect">
            <a:avLst/>
          </a:prstGeom>
          <a:solidFill>
            <a:srgbClr val="1F3A5F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830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Sobhani, Chai, Hartung, Jansen — Phys. Rev. A 111, 042413 (2025)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95738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DOI: 10.1103/PhysRevA.111.042413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5705</TotalTime>
  <Words>2145</Words>
  <Application>Microsoft Office PowerPoint</Application>
  <PresentationFormat>On-screen Show (16:9)</PresentationFormat>
  <Paragraphs>264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Consolas</vt:lpstr>
      <vt:lpstr>Symbol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VQE Prime Factorization on IBM Quantum</dc:title>
  <dc:subject>PptxGenJS Presentation</dc:subject>
  <dc:creator>Sobhani, Chai, Hartung, Jansen (PRA 2025) — Replication Study</dc:creator>
  <cp:lastModifiedBy>Mrudula Mahindrakar</cp:lastModifiedBy>
  <cp:revision>9</cp:revision>
  <dcterms:created xsi:type="dcterms:W3CDTF">2026-04-25T06:37:58Z</dcterms:created>
  <dcterms:modified xsi:type="dcterms:W3CDTF">2026-04-29T08:28:18Z</dcterms:modified>
</cp:coreProperties>
</file>